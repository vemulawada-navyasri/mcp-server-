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0f5ff8c-6953-bee2-1ee3-23b1fabbfbdd}">
          <p14:sldIdLst>
            <p14:sldId id="256"/>
            <p14:sldId id="257"/>
          </p14:sldIdLst>
        </p14:section>
        <p14:section name="Problem" id="{44558fa6-069b-8268-d77a-c4b3fbb3274c}">
          <p14:sldIdLst>
            <p14:sldId id="258"/>
            <p14:sldId id="259"/>
          </p14:sldIdLst>
        </p14:section>
        <p14:section name="Solution" id="{7bd0f8b4-b24e-8e6b-f080-1f933adddcd1}">
          <p14:sldIdLst>
            <p14:sldId id="260"/>
          </p14:sldIdLst>
        </p14:section>
        <p14:section name="Architecture" id="{e8f3aefc-b01b-1f50-2ba0-4e7b018b6668}">
          <p14:sldIdLst>
            <p14:sldId id="261"/>
            <p14:sldId id="262"/>
            <p14:sldId id="263"/>
          </p14:sldIdLst>
        </p14:section>
        <p14:section name="Results" id="{9a13dfe8-7525-f05c-0f4d-3869fe4950fa}">
          <p14:sldIdLst>
            <p14:sldId id="264"/>
          </p14:sldIdLst>
        </p14:section>
        <p14:section name="Business" id="{1409bd83-6d63-d0c0-dc64-403edcc6df49}">
          <p14:sldIdLst>
            <p14:sldId id="265"/>
            <p14:sldId id="266"/>
            <p14:sldId id="267"/>
            <p14:sldId id="268"/>
            <p14:sldId id="269"/>
          </p14:sldIdLst>
        </p14:section>
        <p14:section name="Roadmap" id="{1d5811d1-b4fe-7c88-60a3-9fe1700b898a}">
          <p14:sldIdLst>
            <p14:sldId id="270"/>
          </p14:sldIdLst>
        </p14:section>
        <p14:section name="Close" id="{2d924903-3d58-40a2-8f8c-e975aea25a77}">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SENTINELPAY is designed to bridge the gap between payment operations and vendor compliance. By connecting multiple systems through MCP, it helps finance teams gather evidence, identify unresolved checks, and make better-informed payment decisions, all while keeping final approval with a human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13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502920"/>
            <a:ext cx="640080" cy="640080"/>
          </a:xfrm>
          <a:prstGeom prst="ellipse">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617220" y="662940"/>
            <a:ext cx="320040" cy="320040"/>
          </a:xfrm>
          <a:prstGeom prst="rect">
            <a:avLst/>
          </a:prstGeom>
        </p:spPr>
      </p:pic>
      <p:sp>
        <p:nvSpPr>
          <p:cNvPr id="4" name="Text 1"/>
          <p:cNvSpPr txBox="1"/>
          <p:nvPr/>
        </p:nvSpPr>
        <p:spPr>
          <a:xfrm>
            <a:off x="1280160" y="502920"/>
            <a:ext cx="6858000" cy="640080"/>
          </a:xfrm>
          <a:prstGeom prst="rect">
            <a:avLst/>
          </a:prstGeom>
          <a:noFill/>
          <a:ln/>
        </p:spPr>
        <p:txBody>
          <a:bodyPr wrap="square" lIns="0" tIns="0" rIns="0" bIns="0" rtlCol="0" anchor="ctr"/>
          <a:lstStyle/>
          <a:p>
            <a:pPr indent="0" marL="0">
              <a:buNone/>
            </a:pPr>
            <a:r>
              <a:rPr lang="en-US" sz="1400" b="1" spc="300" kern="0" dirty="0">
                <a:solidFill>
                  <a:schemeClr val="accent1"/>
                </a:solidFill>
                <a:latin typeface="Calibri" pitchFamily="34" charset="0"/>
                <a:ea typeface="Calibri" pitchFamily="34" charset="-122"/>
                <a:cs typeface="Calibri" pitchFamily="34" charset="-120"/>
              </a:rPr>
              <a:t>MCP-POWERED FINANCIAL COMPLIANCE</a:t>
            </a:r>
            <a:endParaRPr lang="en-US" sz="1400" dirty="0"/>
          </a:p>
        </p:txBody>
      </p:sp>
      <p:sp>
        <p:nvSpPr>
          <p:cNvPr id="5" name="Text 2"/>
          <p:cNvSpPr txBox="1"/>
          <p:nvPr/>
        </p:nvSpPr>
        <p:spPr>
          <a:xfrm>
            <a:off x="457200" y="1463040"/>
            <a:ext cx="8229600" cy="91440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SENTINELPAY</a:t>
            </a:r>
            <a:endParaRPr lang="en-US" sz="5400" dirty="0"/>
          </a:p>
        </p:txBody>
      </p:sp>
      <p:sp>
        <p:nvSpPr>
          <p:cNvPr id="6" name="Text 3"/>
          <p:cNvSpPr txBox="1"/>
          <p:nvPr/>
        </p:nvSpPr>
        <p:spPr>
          <a:xfrm>
            <a:off x="457200" y="2423160"/>
            <a:ext cx="8229600" cy="457200"/>
          </a:xfrm>
          <a:prstGeom prst="rect">
            <a:avLst/>
          </a:prstGeom>
          <a:noFill/>
          <a:ln/>
        </p:spPr>
        <p:txBody>
          <a:bodyPr wrap="square" lIns="0" tIns="0" rIns="0" bIns="0" rtlCol="0" anchor="t"/>
          <a:lstStyle/>
          <a:p>
            <a:pPr indent="0" marL="0">
              <a:buNone/>
            </a:pPr>
            <a:r>
              <a:rPr lang="en-US" sz="2400" dirty="0">
                <a:solidFill>
                  <a:schemeClr val="bg2"/>
                </a:solidFill>
                <a:latin typeface="Calibri" pitchFamily="34" charset="0"/>
                <a:ea typeface="Calibri" pitchFamily="34" charset="-122"/>
                <a:cs typeface="Calibri" pitchFamily="34" charset="-120"/>
              </a:rPr>
              <a:t>Vendor Payment Risk &amp; Compliance Assistant</a:t>
            </a:r>
            <a:endParaRPr lang="en-US" sz="2400" dirty="0"/>
          </a:p>
        </p:txBody>
      </p:sp>
      <p:sp>
        <p:nvSpPr>
          <p:cNvPr id="7" name="Text 4"/>
          <p:cNvSpPr txBox="1"/>
          <p:nvPr/>
        </p:nvSpPr>
        <p:spPr>
          <a:xfrm>
            <a:off x="457200" y="3063240"/>
            <a:ext cx="6400800" cy="73152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Connecting payment information, vendor verification, and contract evidence in one intelligent workflow.</a:t>
            </a:r>
            <a:endParaRPr lang="en-US" sz="1600" dirty="0"/>
          </a:p>
        </p:txBody>
      </p:sp>
      <p:sp>
        <p:nvSpPr>
          <p:cNvPr id="8" name="Text 5"/>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200" dirty="0">
                <a:solidFill>
                  <a:schemeClr val="accent1"/>
                </a:solidFill>
                <a:latin typeface="Calibri" pitchFamily="34" charset="0"/>
                <a:ea typeface="Calibri" pitchFamily="34" charset="-122"/>
                <a:cs typeface="Calibri" pitchFamily="34" charset="-120"/>
              </a:rPr>
              <a:t>Project Overview  •  Problem  •  Solution  •  Architecture  •  Business Value</a:t>
            </a:r>
            <a:endParaRPr lang="en-US" sz="1200" dirty="0"/>
          </a:p>
        </p:txBody>
      </p:sp>
      <p:sp>
        <p:nvSpPr>
          <p:cNvPr id="9"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is SENTINELPAY?</a:t>
            </a:r>
            <a:endParaRPr lang="en-US" sz="3200" dirty="0"/>
          </a:p>
        </p:txBody>
      </p:sp>
      <p:sp>
        <p:nvSpPr>
          <p:cNvPr id="3" name="Text 1"/>
          <p:cNvSpPr txBox="1"/>
          <p:nvPr/>
        </p:nvSpPr>
        <p:spPr>
          <a:xfrm>
            <a:off x="457200" y="1097280"/>
            <a:ext cx="4846320" cy="8229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An MCP-based financial compliance assistant that helps finance teams review vendor information before making payment decisions.</a:t>
            </a:r>
            <a:endParaRPr lang="en-US" sz="1500" dirty="0"/>
          </a:p>
        </p:txBody>
      </p:sp>
      <p:sp>
        <p:nvSpPr>
          <p:cNvPr id="4" name="Text 2"/>
          <p:cNvSpPr txBox="1"/>
          <p:nvPr/>
        </p:nvSpPr>
        <p:spPr>
          <a:xfrm>
            <a:off x="457200" y="2011680"/>
            <a:ext cx="4846320" cy="2560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Connects payment information with vendor verification and contract records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Uses Model Context Protocol (MCP) tools to expose external systems to compatible AI assistants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Retrieves available data from Pay2All, GSTIN verification, and Leegality</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Identifies missing information and potential compliance concerns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Generates a structured report with evidence and next steps</a:t>
            </a:r>
            <a:endParaRPr lang="en-US" sz="1400" dirty="0"/>
          </a:p>
        </p:txBody>
      </p:sp>
      <p:sp>
        <p:nvSpPr>
          <p:cNvPr id="5" name="Shape 3"/>
          <p:cNvSpPr/>
          <p:nvPr/>
        </p:nvSpPr>
        <p:spPr>
          <a:xfrm>
            <a:off x="5623560" y="1097280"/>
            <a:ext cx="3063240" cy="3383280"/>
          </a:xfrm>
          <a:prstGeom prst="roundRect">
            <a:avLst>
              <a:gd name="adj" fmla="val 2388"/>
            </a:avLst>
          </a:prstGeom>
          <a:solidFill>
            <a:schemeClr val="tx2"/>
          </a:solidFill>
          <a:ln/>
        </p:spPr>
      </p:sp>
      <p:sp>
        <p:nvSpPr>
          <p:cNvPr id="6" name="Shape 4"/>
          <p:cNvSpPr/>
          <p:nvPr/>
        </p:nvSpPr>
        <p:spPr>
          <a:xfrm>
            <a:off x="5897880" y="1371600"/>
            <a:ext cx="685800" cy="6858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6069330" y="1543050"/>
            <a:ext cx="342900" cy="342900"/>
          </a:xfrm>
          <a:prstGeom prst="rect">
            <a:avLst/>
          </a:prstGeom>
        </p:spPr>
      </p:pic>
      <p:sp>
        <p:nvSpPr>
          <p:cNvPr id="8" name="Text 5"/>
          <p:cNvSpPr txBox="1"/>
          <p:nvPr/>
        </p:nvSpPr>
        <p:spPr>
          <a:xfrm>
            <a:off x="5897880" y="2240280"/>
            <a:ext cx="2560320" cy="274320"/>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GOAL</a:t>
            </a:r>
            <a:endParaRPr lang="en-US" sz="1200" dirty="0"/>
          </a:p>
        </p:txBody>
      </p:sp>
      <p:sp>
        <p:nvSpPr>
          <p:cNvPr id="9" name="Text 6"/>
          <p:cNvSpPr txBox="1"/>
          <p:nvPr/>
        </p:nvSpPr>
        <p:spPr>
          <a:xfrm>
            <a:off x="5897880" y="2560320"/>
            <a:ext cx="2560320" cy="173736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Make vendor payment reviews more consistent, transparent, and efficient, with final approval kept under human control.</a:t>
            </a:r>
            <a:endParaRPr lang="en-US" sz="15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real-world problem</a:t>
            </a:r>
            <a:endParaRPr lang="en-US" sz="3200" dirty="0"/>
          </a:p>
        </p:txBody>
      </p:sp>
      <p:sp>
        <p:nvSpPr>
          <p:cNvPr id="3" name="Shape 1"/>
          <p:cNvSpPr/>
          <p:nvPr/>
        </p:nvSpPr>
        <p:spPr>
          <a:xfrm>
            <a:off x="457200" y="1143000"/>
            <a:ext cx="2651760" cy="1188720"/>
          </a:xfrm>
          <a:prstGeom prst="roundRect">
            <a:avLst>
              <a:gd name="adj" fmla="val 6154"/>
            </a:avLst>
          </a:prstGeom>
          <a:solidFill>
            <a:schemeClr val="bg2"/>
          </a:solidFill>
          <a:ln/>
        </p:spPr>
      </p:sp>
      <p:sp>
        <p:nvSpPr>
          <p:cNvPr id="4" name="Shape 2"/>
          <p:cNvSpPr/>
          <p:nvPr/>
        </p:nvSpPr>
        <p:spPr>
          <a:xfrm>
            <a:off x="640080" y="1325880"/>
            <a:ext cx="457200" cy="457200"/>
          </a:xfrm>
          <a:prstGeom prst="ellipse">
            <a:avLst/>
          </a:prstGeom>
          <a:solidFill>
            <a:schemeClr val="accent4"/>
          </a:solidFill>
          <a:ln/>
        </p:spPr>
      </p:sp>
      <p:pic>
        <p:nvPicPr>
          <p:cNvPr id="5" name="Image 0" descr="preencoded.png">    </p:cNvPr>
          <p:cNvPicPr>
            <a:picLocks noChangeAspect="1"/>
          </p:cNvPicPr>
          <p:nvPr/>
        </p:nvPicPr>
        <p:blipFill>
          <a:blip r:embed="rId1"/>
          <a:stretch>
            <a:fillRect/>
          </a:stretch>
        </p:blipFill>
        <p:spPr>
          <a:xfrm>
            <a:off x="754380" y="1440180"/>
            <a:ext cx="228600" cy="228600"/>
          </a:xfrm>
          <a:prstGeom prst="rect">
            <a:avLst/>
          </a:prstGeom>
        </p:spPr>
      </p:pic>
      <p:sp>
        <p:nvSpPr>
          <p:cNvPr id="6" name="Text 3"/>
          <p:cNvSpPr txBox="1"/>
          <p:nvPr/>
        </p:nvSpPr>
        <p:spPr>
          <a:xfrm>
            <a:off x="1234440" y="1280160"/>
            <a:ext cx="1737360" cy="9144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Payment data sits apart from tax and contract records</a:t>
            </a:r>
            <a:endParaRPr lang="en-US" sz="1400" dirty="0"/>
          </a:p>
        </p:txBody>
      </p:sp>
      <p:sp>
        <p:nvSpPr>
          <p:cNvPr id="7" name="Shape 4"/>
          <p:cNvSpPr/>
          <p:nvPr/>
        </p:nvSpPr>
        <p:spPr>
          <a:xfrm>
            <a:off x="3246120" y="1143000"/>
            <a:ext cx="2651760" cy="1188720"/>
          </a:xfrm>
          <a:prstGeom prst="roundRect">
            <a:avLst>
              <a:gd name="adj" fmla="val 6154"/>
            </a:avLst>
          </a:prstGeom>
          <a:solidFill>
            <a:schemeClr val="bg2"/>
          </a:solidFill>
          <a:ln/>
        </p:spPr>
      </p:sp>
      <p:sp>
        <p:nvSpPr>
          <p:cNvPr id="8" name="Shape 5"/>
          <p:cNvSpPr/>
          <p:nvPr/>
        </p:nvSpPr>
        <p:spPr>
          <a:xfrm>
            <a:off x="3429000" y="1325880"/>
            <a:ext cx="457200" cy="457200"/>
          </a:xfrm>
          <a:prstGeom prst="ellipse">
            <a:avLst/>
          </a:prstGeom>
          <a:solidFill>
            <a:schemeClr val="accent4"/>
          </a:solidFill>
          <a:ln/>
        </p:spPr>
      </p:sp>
      <p:pic>
        <p:nvPicPr>
          <p:cNvPr id="9" name="Image 1" descr="preencoded.png">    </p:cNvPr>
          <p:cNvPicPr>
            <a:picLocks noChangeAspect="1"/>
          </p:cNvPicPr>
          <p:nvPr/>
        </p:nvPicPr>
        <p:blipFill>
          <a:blip r:embed="rId2"/>
          <a:stretch>
            <a:fillRect/>
          </a:stretch>
        </p:blipFill>
        <p:spPr>
          <a:xfrm>
            <a:off x="3543300" y="1440180"/>
            <a:ext cx="228600" cy="228600"/>
          </a:xfrm>
          <a:prstGeom prst="rect">
            <a:avLst/>
          </a:prstGeom>
        </p:spPr>
      </p:pic>
      <p:sp>
        <p:nvSpPr>
          <p:cNvPr id="10" name="Text 6"/>
          <p:cNvSpPr txBox="1"/>
          <p:nvPr/>
        </p:nvSpPr>
        <p:spPr>
          <a:xfrm>
            <a:off x="4023360" y="1280160"/>
            <a:ext cx="1737360" cy="9144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Staff switch between platforms to collect information</a:t>
            </a:r>
            <a:endParaRPr lang="en-US" sz="1400" dirty="0"/>
          </a:p>
        </p:txBody>
      </p:sp>
      <p:sp>
        <p:nvSpPr>
          <p:cNvPr id="11" name="Shape 7"/>
          <p:cNvSpPr/>
          <p:nvPr/>
        </p:nvSpPr>
        <p:spPr>
          <a:xfrm>
            <a:off x="6035040" y="1143000"/>
            <a:ext cx="2651760" cy="1188720"/>
          </a:xfrm>
          <a:prstGeom prst="roundRect">
            <a:avLst>
              <a:gd name="adj" fmla="val 6154"/>
            </a:avLst>
          </a:prstGeom>
          <a:solidFill>
            <a:schemeClr val="bg2"/>
          </a:solidFill>
          <a:ln/>
        </p:spPr>
      </p:sp>
      <p:sp>
        <p:nvSpPr>
          <p:cNvPr id="12" name="Shape 8"/>
          <p:cNvSpPr/>
          <p:nvPr/>
        </p:nvSpPr>
        <p:spPr>
          <a:xfrm>
            <a:off x="6217920" y="1325880"/>
            <a:ext cx="457200" cy="457200"/>
          </a:xfrm>
          <a:prstGeom prst="ellipse">
            <a:avLst/>
          </a:prstGeom>
          <a:solidFill>
            <a:schemeClr val="accent4"/>
          </a:solidFill>
          <a:ln/>
        </p:spPr>
      </p:sp>
      <p:pic>
        <p:nvPicPr>
          <p:cNvPr id="13" name="Image 2" descr="preencoded.png">    </p:cNvPr>
          <p:cNvPicPr>
            <a:picLocks noChangeAspect="1"/>
          </p:cNvPicPr>
          <p:nvPr/>
        </p:nvPicPr>
        <p:blipFill>
          <a:blip r:embed="rId3"/>
          <a:stretch>
            <a:fillRect/>
          </a:stretch>
        </p:blipFill>
        <p:spPr>
          <a:xfrm>
            <a:off x="6332220" y="1440180"/>
            <a:ext cx="228600" cy="228600"/>
          </a:xfrm>
          <a:prstGeom prst="rect">
            <a:avLst/>
          </a:prstGeom>
        </p:spPr>
      </p:pic>
      <p:sp>
        <p:nvSpPr>
          <p:cNvPr id="14" name="Text 9"/>
          <p:cNvSpPr txBox="1"/>
          <p:nvPr/>
        </p:nvSpPr>
        <p:spPr>
          <a:xfrm>
            <a:off x="6812280" y="1280160"/>
            <a:ext cx="1737360" cy="9144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Draft agreements or missing signatures get overlooked</a:t>
            </a:r>
            <a:endParaRPr lang="en-US" sz="1400" dirty="0"/>
          </a:p>
        </p:txBody>
      </p:sp>
      <p:sp>
        <p:nvSpPr>
          <p:cNvPr id="15" name="Shape 10"/>
          <p:cNvSpPr/>
          <p:nvPr/>
        </p:nvSpPr>
        <p:spPr>
          <a:xfrm>
            <a:off x="457200" y="2468880"/>
            <a:ext cx="2651760" cy="1188720"/>
          </a:xfrm>
          <a:prstGeom prst="roundRect">
            <a:avLst>
              <a:gd name="adj" fmla="val 6154"/>
            </a:avLst>
          </a:prstGeom>
          <a:solidFill>
            <a:schemeClr val="bg2"/>
          </a:solidFill>
          <a:ln/>
        </p:spPr>
      </p:sp>
      <p:sp>
        <p:nvSpPr>
          <p:cNvPr id="16" name="Shape 11"/>
          <p:cNvSpPr/>
          <p:nvPr/>
        </p:nvSpPr>
        <p:spPr>
          <a:xfrm>
            <a:off x="640080" y="2651760"/>
            <a:ext cx="457200" cy="457200"/>
          </a:xfrm>
          <a:prstGeom prst="ellipse">
            <a:avLst/>
          </a:prstGeom>
          <a:solidFill>
            <a:schemeClr val="accent4"/>
          </a:solidFill>
          <a:ln/>
        </p:spPr>
      </p:sp>
      <p:pic>
        <p:nvPicPr>
          <p:cNvPr id="17" name="Image 3" descr="preencoded.png">    </p:cNvPr>
          <p:cNvPicPr>
            <a:picLocks noChangeAspect="1"/>
          </p:cNvPicPr>
          <p:nvPr/>
        </p:nvPicPr>
        <p:blipFill>
          <a:blip r:embed="rId4"/>
          <a:stretch>
            <a:fillRect/>
          </a:stretch>
        </p:blipFill>
        <p:spPr>
          <a:xfrm>
            <a:off x="754380" y="2766060"/>
            <a:ext cx="228600" cy="228600"/>
          </a:xfrm>
          <a:prstGeom prst="rect">
            <a:avLst/>
          </a:prstGeom>
        </p:spPr>
      </p:pic>
      <p:sp>
        <p:nvSpPr>
          <p:cNvPr id="18" name="Text 12"/>
          <p:cNvSpPr txBox="1"/>
          <p:nvPr/>
        </p:nvSpPr>
        <p:spPr>
          <a:xfrm>
            <a:off x="1234440" y="2606040"/>
            <a:ext cx="1737360" cy="9144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Failed checks get confused with negative results</a:t>
            </a:r>
            <a:endParaRPr lang="en-US" sz="1400" dirty="0"/>
          </a:p>
        </p:txBody>
      </p:sp>
      <p:sp>
        <p:nvSpPr>
          <p:cNvPr id="19" name="Shape 13"/>
          <p:cNvSpPr/>
          <p:nvPr/>
        </p:nvSpPr>
        <p:spPr>
          <a:xfrm>
            <a:off x="3246120" y="2468880"/>
            <a:ext cx="2651760" cy="1188720"/>
          </a:xfrm>
          <a:prstGeom prst="roundRect">
            <a:avLst>
              <a:gd name="adj" fmla="val 6154"/>
            </a:avLst>
          </a:prstGeom>
          <a:solidFill>
            <a:schemeClr val="bg2"/>
          </a:solidFill>
          <a:ln/>
        </p:spPr>
      </p:sp>
      <p:sp>
        <p:nvSpPr>
          <p:cNvPr id="20" name="Shape 14"/>
          <p:cNvSpPr/>
          <p:nvPr/>
        </p:nvSpPr>
        <p:spPr>
          <a:xfrm>
            <a:off x="3429000" y="2651760"/>
            <a:ext cx="457200" cy="457200"/>
          </a:xfrm>
          <a:prstGeom prst="ellipse">
            <a:avLst/>
          </a:prstGeom>
          <a:solidFill>
            <a:schemeClr val="accent4"/>
          </a:solidFill>
          <a:ln/>
        </p:spPr>
      </p:sp>
      <p:pic>
        <p:nvPicPr>
          <p:cNvPr id="21" name="Image 4" descr="preencoded.png">    </p:cNvPr>
          <p:cNvPicPr>
            <a:picLocks noChangeAspect="1"/>
          </p:cNvPicPr>
          <p:nvPr/>
        </p:nvPicPr>
        <p:blipFill>
          <a:blip r:embed="rId5"/>
          <a:stretch>
            <a:fillRect/>
          </a:stretch>
        </p:blipFill>
        <p:spPr>
          <a:xfrm>
            <a:off x="3543300" y="2766060"/>
            <a:ext cx="228600" cy="228600"/>
          </a:xfrm>
          <a:prstGeom prst="rect">
            <a:avLst/>
          </a:prstGeom>
        </p:spPr>
      </p:pic>
      <p:sp>
        <p:nvSpPr>
          <p:cNvPr id="22" name="Text 15"/>
          <p:cNvSpPr txBox="1"/>
          <p:nvPr/>
        </p:nvSpPr>
        <p:spPr>
          <a:xfrm>
            <a:off x="4023360" y="2606040"/>
            <a:ext cx="1737360" cy="9144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Repeated manual checks delay payment reviews</a:t>
            </a:r>
            <a:endParaRPr lang="en-US" sz="1400" dirty="0"/>
          </a:p>
        </p:txBody>
      </p:sp>
      <p:sp>
        <p:nvSpPr>
          <p:cNvPr id="23" name="Shape 16"/>
          <p:cNvSpPr/>
          <p:nvPr/>
        </p:nvSpPr>
        <p:spPr>
          <a:xfrm>
            <a:off x="6035040" y="2468880"/>
            <a:ext cx="2651760" cy="1188720"/>
          </a:xfrm>
          <a:prstGeom prst="roundRect">
            <a:avLst>
              <a:gd name="adj" fmla="val 6154"/>
            </a:avLst>
          </a:prstGeom>
          <a:solidFill>
            <a:schemeClr val="bg2"/>
          </a:solidFill>
          <a:ln/>
        </p:spPr>
      </p:sp>
      <p:sp>
        <p:nvSpPr>
          <p:cNvPr id="24" name="Shape 17"/>
          <p:cNvSpPr/>
          <p:nvPr/>
        </p:nvSpPr>
        <p:spPr>
          <a:xfrm>
            <a:off x="6217920" y="2651760"/>
            <a:ext cx="457200" cy="457200"/>
          </a:xfrm>
          <a:prstGeom prst="ellipse">
            <a:avLst/>
          </a:prstGeom>
          <a:solidFill>
            <a:schemeClr val="accent4"/>
          </a:solidFill>
          <a:ln/>
        </p:spPr>
      </p:sp>
      <p:pic>
        <p:nvPicPr>
          <p:cNvPr id="25" name="Image 5" descr="preencoded.png">    </p:cNvPr>
          <p:cNvPicPr>
            <a:picLocks noChangeAspect="1"/>
          </p:cNvPicPr>
          <p:nvPr/>
        </p:nvPicPr>
        <p:blipFill>
          <a:blip r:embed="rId6"/>
          <a:stretch>
            <a:fillRect/>
          </a:stretch>
        </p:blipFill>
        <p:spPr>
          <a:xfrm>
            <a:off x="6332220" y="2766060"/>
            <a:ext cx="228600" cy="228600"/>
          </a:xfrm>
          <a:prstGeom prst="rect">
            <a:avLst/>
          </a:prstGeom>
        </p:spPr>
      </p:pic>
      <p:sp>
        <p:nvSpPr>
          <p:cNvPr id="26" name="Text 18"/>
          <p:cNvSpPr txBox="1"/>
          <p:nvPr/>
        </p:nvSpPr>
        <p:spPr>
          <a:xfrm>
            <a:off x="6812280" y="2606040"/>
            <a:ext cx="1737360" cy="91440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Scattered evidence makes audit prep difficult</a:t>
            </a:r>
            <a:endParaRPr lang="en-US" sz="1400" dirty="0"/>
          </a:p>
        </p:txBody>
      </p:sp>
      <p:sp>
        <p:nvSpPr>
          <p:cNvPr id="27" name="Shape 19"/>
          <p:cNvSpPr/>
          <p:nvPr/>
        </p:nvSpPr>
        <p:spPr>
          <a:xfrm>
            <a:off x="457200" y="3840480"/>
            <a:ext cx="8229600" cy="868680"/>
          </a:xfrm>
          <a:prstGeom prst="roundRect">
            <a:avLst>
              <a:gd name="adj" fmla="val 8421"/>
            </a:avLst>
          </a:prstGeom>
          <a:solidFill>
            <a:schemeClr val="tx2"/>
          </a:solidFill>
          <a:ln/>
        </p:spPr>
      </p:sp>
      <p:sp>
        <p:nvSpPr>
          <p:cNvPr id="28" name="Text 20"/>
          <p:cNvSpPr txBox="1"/>
          <p:nvPr/>
        </p:nvSpPr>
        <p:spPr>
          <a:xfrm>
            <a:off x="685800" y="3840480"/>
            <a:ext cx="7772400" cy="86868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Example: </a:t>
            </a:r>
            <a:pPr indent="0" marL="0">
              <a:buNone/>
            </a:pPr>
            <a:r>
              <a:rPr lang="en-US" sz="1300" dirty="0">
                <a:solidFill>
                  <a:schemeClr val="bg1"/>
                </a:solidFill>
                <a:latin typeface="Calibri" pitchFamily="34" charset="0"/>
                <a:ea typeface="Calibri" pitchFamily="34" charset="-122"/>
                <a:cs typeface="Calibri" pitchFamily="34" charset="-120"/>
              </a:rPr>
              <a:t>before paying a vendor ₹85,000, an accounts payable employee may need to verify the GSTIN, locate the right agreement, and confirm whether it is signed.</a:t>
            </a:r>
            <a:endParaRPr lang="en-US" sz="13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Why this problem matters</a:t>
            </a:r>
            <a:endParaRPr lang="en-US" sz="3200" dirty="0"/>
          </a:p>
        </p:txBody>
      </p:sp>
      <p:sp>
        <p:nvSpPr>
          <p:cNvPr id="3" name="Shape 1"/>
          <p:cNvSpPr/>
          <p:nvPr/>
        </p:nvSpPr>
        <p:spPr>
          <a:xfrm>
            <a:off x="457200" y="1188720"/>
            <a:ext cx="2651760" cy="3108960"/>
          </a:xfrm>
          <a:prstGeom prst="roundRect">
            <a:avLst>
              <a:gd name="adj" fmla="val 2759"/>
            </a:avLst>
          </a:prstGeom>
          <a:solidFill>
            <a:schemeClr val="bg2"/>
          </a:solidFill>
          <a:ln/>
        </p:spPr>
      </p:sp>
      <p:sp>
        <p:nvSpPr>
          <p:cNvPr id="4" name="Shape 2"/>
          <p:cNvSpPr/>
          <p:nvPr/>
        </p:nvSpPr>
        <p:spPr>
          <a:xfrm>
            <a:off x="731520" y="1463040"/>
            <a:ext cx="731520" cy="7315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4400" y="1645920"/>
            <a:ext cx="365760" cy="365760"/>
          </a:xfrm>
          <a:prstGeom prst="rect">
            <a:avLst/>
          </a:prstGeom>
        </p:spPr>
      </p:pic>
      <p:sp>
        <p:nvSpPr>
          <p:cNvPr id="6" name="Text 3"/>
          <p:cNvSpPr txBox="1"/>
          <p:nvPr/>
        </p:nvSpPr>
        <p:spPr>
          <a:xfrm>
            <a:off x="731520" y="2423160"/>
            <a:ext cx="219456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Operational efficiency</a:t>
            </a:r>
            <a:endParaRPr lang="en-US" sz="2000" dirty="0"/>
          </a:p>
        </p:txBody>
      </p:sp>
      <p:sp>
        <p:nvSpPr>
          <p:cNvPr id="7" name="Text 4"/>
          <p:cNvSpPr txBox="1"/>
          <p:nvPr/>
        </p:nvSpPr>
        <p:spPr>
          <a:xfrm>
            <a:off x="731520" y="3108960"/>
            <a:ext cx="21945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Manual information gathering and repeated checks consume staff time.</a:t>
            </a:r>
            <a:endParaRPr lang="en-US" sz="1400" dirty="0"/>
          </a:p>
        </p:txBody>
      </p:sp>
      <p:sp>
        <p:nvSpPr>
          <p:cNvPr id="8" name="Shape 5"/>
          <p:cNvSpPr/>
          <p:nvPr/>
        </p:nvSpPr>
        <p:spPr>
          <a:xfrm>
            <a:off x="3246120" y="1188720"/>
            <a:ext cx="2651760" cy="3108960"/>
          </a:xfrm>
          <a:prstGeom prst="roundRect">
            <a:avLst>
              <a:gd name="adj" fmla="val 2759"/>
            </a:avLst>
          </a:prstGeom>
          <a:solidFill>
            <a:schemeClr val="bg2"/>
          </a:solidFill>
          <a:ln/>
        </p:spPr>
      </p:sp>
      <p:sp>
        <p:nvSpPr>
          <p:cNvPr id="9" name="Shape 6"/>
          <p:cNvSpPr/>
          <p:nvPr/>
        </p:nvSpPr>
        <p:spPr>
          <a:xfrm>
            <a:off x="3520440" y="1463040"/>
            <a:ext cx="731520" cy="7315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703320" y="1645920"/>
            <a:ext cx="365760" cy="365760"/>
          </a:xfrm>
          <a:prstGeom prst="rect">
            <a:avLst/>
          </a:prstGeom>
        </p:spPr>
      </p:pic>
      <p:sp>
        <p:nvSpPr>
          <p:cNvPr id="11" name="Text 7"/>
          <p:cNvSpPr txBox="1"/>
          <p:nvPr/>
        </p:nvSpPr>
        <p:spPr>
          <a:xfrm>
            <a:off x="3520440" y="2423160"/>
            <a:ext cx="219456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Compliance visibility</a:t>
            </a:r>
            <a:endParaRPr lang="en-US" sz="2000" dirty="0"/>
          </a:p>
        </p:txBody>
      </p:sp>
      <p:sp>
        <p:nvSpPr>
          <p:cNvPr id="12" name="Text 8"/>
          <p:cNvSpPr txBox="1"/>
          <p:nvPr/>
        </p:nvSpPr>
        <p:spPr>
          <a:xfrm>
            <a:off x="3520440" y="3108960"/>
            <a:ext cx="21945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Missing evidence and unresolved checks must be visible before approval.</a:t>
            </a:r>
            <a:endParaRPr lang="en-US" sz="1400" dirty="0"/>
          </a:p>
        </p:txBody>
      </p:sp>
      <p:sp>
        <p:nvSpPr>
          <p:cNvPr id="13" name="Shape 9"/>
          <p:cNvSpPr/>
          <p:nvPr/>
        </p:nvSpPr>
        <p:spPr>
          <a:xfrm>
            <a:off x="6035040" y="1188720"/>
            <a:ext cx="2651760" cy="3108960"/>
          </a:xfrm>
          <a:prstGeom prst="roundRect">
            <a:avLst>
              <a:gd name="adj" fmla="val 2759"/>
            </a:avLst>
          </a:prstGeom>
          <a:solidFill>
            <a:schemeClr val="bg2"/>
          </a:solidFill>
          <a:ln/>
        </p:spPr>
      </p:sp>
      <p:sp>
        <p:nvSpPr>
          <p:cNvPr id="14" name="Shape 10"/>
          <p:cNvSpPr/>
          <p:nvPr/>
        </p:nvSpPr>
        <p:spPr>
          <a:xfrm>
            <a:off x="6309360" y="1463040"/>
            <a:ext cx="731520" cy="7315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492240" y="1645920"/>
            <a:ext cx="365760" cy="365760"/>
          </a:xfrm>
          <a:prstGeom prst="rect">
            <a:avLst/>
          </a:prstGeom>
        </p:spPr>
      </p:pic>
      <p:sp>
        <p:nvSpPr>
          <p:cNvPr id="16" name="Text 11"/>
          <p:cNvSpPr txBox="1"/>
          <p:nvPr/>
        </p:nvSpPr>
        <p:spPr>
          <a:xfrm>
            <a:off x="6309360" y="2423160"/>
            <a:ext cx="219456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Accountability</a:t>
            </a:r>
            <a:endParaRPr lang="en-US" sz="2000" dirty="0"/>
          </a:p>
        </p:txBody>
      </p:sp>
      <p:sp>
        <p:nvSpPr>
          <p:cNvPr id="17" name="Text 12"/>
          <p:cNvSpPr txBox="1"/>
          <p:nvPr/>
        </p:nvSpPr>
        <p:spPr>
          <a:xfrm>
            <a:off x="6309360" y="3108960"/>
            <a:ext cx="21945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Finance teams need clear reasons and supporting evidence for review decisions.</a:t>
            </a:r>
            <a:endParaRPr lang="en-US" sz="1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Proposed solution</a:t>
            </a:r>
            <a:endParaRPr lang="en-US" sz="3200" dirty="0"/>
          </a:p>
        </p:txBody>
      </p:sp>
      <p:sp>
        <p:nvSpPr>
          <p:cNvPr id="3" name="Shape 1"/>
          <p:cNvSpPr/>
          <p:nvPr/>
        </p:nvSpPr>
        <p:spPr>
          <a:xfrm>
            <a:off x="457200" y="1143000"/>
            <a:ext cx="2651760" cy="1280160"/>
          </a:xfrm>
          <a:prstGeom prst="roundRect">
            <a:avLst>
              <a:gd name="adj" fmla="val 5714"/>
            </a:avLst>
          </a:prstGeom>
          <a:solidFill>
            <a:schemeClr val="bg2"/>
          </a:solidFill>
          <a:ln/>
        </p:spPr>
      </p:sp>
      <p:sp>
        <p:nvSpPr>
          <p:cNvPr id="4" name="Shape 2"/>
          <p:cNvSpPr/>
          <p:nvPr/>
        </p:nvSpPr>
        <p:spPr>
          <a:xfrm>
            <a:off x="640080" y="1325880"/>
            <a:ext cx="411480" cy="411480"/>
          </a:xfrm>
          <a:prstGeom prst="ellipse">
            <a:avLst/>
          </a:prstGeom>
          <a:solidFill>
            <a:schemeClr val="accent1"/>
          </a:solidFill>
          <a:ln/>
        </p:spPr>
      </p:sp>
      <p:sp>
        <p:nvSpPr>
          <p:cNvPr id="5" name="Text 3"/>
          <p:cNvSpPr txBox="1"/>
          <p:nvPr/>
        </p:nvSpPr>
        <p:spPr>
          <a:xfrm>
            <a:off x="640080" y="13258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325880"/>
            <a:ext cx="1783080" cy="4114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Receive a request</a:t>
            </a:r>
            <a:endParaRPr lang="en-US" sz="1500" dirty="0"/>
          </a:p>
        </p:txBody>
      </p:sp>
      <p:sp>
        <p:nvSpPr>
          <p:cNvPr id="7" name="Text 5"/>
          <p:cNvSpPr txBox="1"/>
          <p:nvPr/>
        </p:nvSpPr>
        <p:spPr>
          <a:xfrm>
            <a:off x="640080" y="1828800"/>
            <a:ext cx="233172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User asks to review a vendor or payment</a:t>
            </a:r>
            <a:endParaRPr lang="en-US" sz="1300" dirty="0"/>
          </a:p>
        </p:txBody>
      </p:sp>
      <p:sp>
        <p:nvSpPr>
          <p:cNvPr id="8" name="Shape 6"/>
          <p:cNvSpPr/>
          <p:nvPr/>
        </p:nvSpPr>
        <p:spPr>
          <a:xfrm>
            <a:off x="3246120" y="1143000"/>
            <a:ext cx="2651760" cy="1280160"/>
          </a:xfrm>
          <a:prstGeom prst="roundRect">
            <a:avLst>
              <a:gd name="adj" fmla="val 5714"/>
            </a:avLst>
          </a:prstGeom>
          <a:solidFill>
            <a:schemeClr val="bg2"/>
          </a:solidFill>
          <a:ln/>
        </p:spPr>
      </p:sp>
      <p:sp>
        <p:nvSpPr>
          <p:cNvPr id="9" name="Shape 7"/>
          <p:cNvSpPr/>
          <p:nvPr/>
        </p:nvSpPr>
        <p:spPr>
          <a:xfrm>
            <a:off x="3429000" y="1325880"/>
            <a:ext cx="411480" cy="411480"/>
          </a:xfrm>
          <a:prstGeom prst="ellipse">
            <a:avLst/>
          </a:prstGeom>
          <a:solidFill>
            <a:schemeClr val="accent1"/>
          </a:solidFill>
          <a:ln/>
        </p:spPr>
      </p:sp>
      <p:sp>
        <p:nvSpPr>
          <p:cNvPr id="10" name="Text 8"/>
          <p:cNvSpPr txBox="1"/>
          <p:nvPr/>
        </p:nvSpPr>
        <p:spPr>
          <a:xfrm>
            <a:off x="3429000" y="13258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3977640" y="1325880"/>
            <a:ext cx="1783080" cy="4114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Retrieve information</a:t>
            </a:r>
            <a:endParaRPr lang="en-US" sz="1500" dirty="0"/>
          </a:p>
        </p:txBody>
      </p:sp>
      <p:sp>
        <p:nvSpPr>
          <p:cNvPr id="12" name="Text 10"/>
          <p:cNvSpPr txBox="1"/>
          <p:nvPr/>
        </p:nvSpPr>
        <p:spPr>
          <a:xfrm>
            <a:off x="3429000" y="1828800"/>
            <a:ext cx="233172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Backend calls approved MCP tools</a:t>
            </a:r>
            <a:endParaRPr lang="en-US" sz="1300" dirty="0"/>
          </a:p>
        </p:txBody>
      </p:sp>
      <p:sp>
        <p:nvSpPr>
          <p:cNvPr id="13" name="Shape 11"/>
          <p:cNvSpPr/>
          <p:nvPr/>
        </p:nvSpPr>
        <p:spPr>
          <a:xfrm>
            <a:off x="6035040" y="1143000"/>
            <a:ext cx="2651760" cy="1280160"/>
          </a:xfrm>
          <a:prstGeom prst="roundRect">
            <a:avLst>
              <a:gd name="adj" fmla="val 5714"/>
            </a:avLst>
          </a:prstGeom>
          <a:solidFill>
            <a:schemeClr val="bg2"/>
          </a:solidFill>
          <a:ln/>
        </p:spPr>
      </p:sp>
      <p:sp>
        <p:nvSpPr>
          <p:cNvPr id="14" name="Shape 12"/>
          <p:cNvSpPr/>
          <p:nvPr/>
        </p:nvSpPr>
        <p:spPr>
          <a:xfrm>
            <a:off x="6217920" y="1325880"/>
            <a:ext cx="411480" cy="411480"/>
          </a:xfrm>
          <a:prstGeom prst="ellipse">
            <a:avLst/>
          </a:prstGeom>
          <a:solidFill>
            <a:schemeClr val="accent1"/>
          </a:solidFill>
          <a:ln/>
        </p:spPr>
      </p:sp>
      <p:sp>
        <p:nvSpPr>
          <p:cNvPr id="15" name="Text 13"/>
          <p:cNvSpPr txBox="1"/>
          <p:nvPr/>
        </p:nvSpPr>
        <p:spPr>
          <a:xfrm>
            <a:off x="6217920" y="13258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6766560" y="1325880"/>
            <a:ext cx="1783080" cy="4114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Validate evidence</a:t>
            </a:r>
            <a:endParaRPr lang="en-US" sz="1500" dirty="0"/>
          </a:p>
        </p:txBody>
      </p:sp>
      <p:sp>
        <p:nvSpPr>
          <p:cNvPr id="17" name="Text 15"/>
          <p:cNvSpPr txBox="1"/>
          <p:nvPr/>
        </p:nvSpPr>
        <p:spPr>
          <a:xfrm>
            <a:off x="6217920" y="1828800"/>
            <a:ext cx="233172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Check returned data; flag missing or failed checks</a:t>
            </a:r>
            <a:endParaRPr lang="en-US" sz="1300" dirty="0"/>
          </a:p>
        </p:txBody>
      </p:sp>
      <p:sp>
        <p:nvSpPr>
          <p:cNvPr id="18" name="Shape 16"/>
          <p:cNvSpPr/>
          <p:nvPr/>
        </p:nvSpPr>
        <p:spPr>
          <a:xfrm>
            <a:off x="457200" y="2560320"/>
            <a:ext cx="2651760" cy="1280160"/>
          </a:xfrm>
          <a:prstGeom prst="roundRect">
            <a:avLst>
              <a:gd name="adj" fmla="val 5714"/>
            </a:avLst>
          </a:prstGeom>
          <a:solidFill>
            <a:schemeClr val="bg2"/>
          </a:solidFill>
          <a:ln/>
        </p:spPr>
      </p:sp>
      <p:sp>
        <p:nvSpPr>
          <p:cNvPr id="19" name="Shape 17"/>
          <p:cNvSpPr/>
          <p:nvPr/>
        </p:nvSpPr>
        <p:spPr>
          <a:xfrm>
            <a:off x="640080" y="2743200"/>
            <a:ext cx="411480" cy="411480"/>
          </a:xfrm>
          <a:prstGeom prst="ellipse">
            <a:avLst/>
          </a:prstGeom>
          <a:solidFill>
            <a:schemeClr val="accent1"/>
          </a:solidFill>
          <a:ln/>
        </p:spPr>
      </p:sp>
      <p:sp>
        <p:nvSpPr>
          <p:cNvPr id="20" name="Text 18"/>
          <p:cNvSpPr txBox="1"/>
          <p:nvPr/>
        </p:nvSpPr>
        <p:spPr>
          <a:xfrm>
            <a:off x="640080" y="2743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188720" y="2743200"/>
            <a:ext cx="1783080" cy="4114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Assess potential risk</a:t>
            </a:r>
            <a:endParaRPr lang="en-US" sz="1500" dirty="0"/>
          </a:p>
        </p:txBody>
      </p:sp>
      <p:sp>
        <p:nvSpPr>
          <p:cNvPr id="22" name="Text 20"/>
          <p:cNvSpPr txBox="1"/>
          <p:nvPr/>
        </p:nvSpPr>
        <p:spPr>
          <a:xfrm>
            <a:off x="640080" y="3246120"/>
            <a:ext cx="233172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Defined rules flag issues when evidence suffices</a:t>
            </a:r>
            <a:endParaRPr lang="en-US" sz="1300" dirty="0"/>
          </a:p>
        </p:txBody>
      </p:sp>
      <p:sp>
        <p:nvSpPr>
          <p:cNvPr id="23" name="Shape 21"/>
          <p:cNvSpPr/>
          <p:nvPr/>
        </p:nvSpPr>
        <p:spPr>
          <a:xfrm>
            <a:off x="3246120" y="2560320"/>
            <a:ext cx="2651760" cy="1280160"/>
          </a:xfrm>
          <a:prstGeom prst="roundRect">
            <a:avLst>
              <a:gd name="adj" fmla="val 5714"/>
            </a:avLst>
          </a:prstGeom>
          <a:solidFill>
            <a:schemeClr val="bg2"/>
          </a:solidFill>
          <a:ln/>
        </p:spPr>
      </p:sp>
      <p:sp>
        <p:nvSpPr>
          <p:cNvPr id="24" name="Shape 22"/>
          <p:cNvSpPr/>
          <p:nvPr/>
        </p:nvSpPr>
        <p:spPr>
          <a:xfrm>
            <a:off x="3429000" y="2743200"/>
            <a:ext cx="411480" cy="411480"/>
          </a:xfrm>
          <a:prstGeom prst="ellipse">
            <a:avLst/>
          </a:prstGeom>
          <a:solidFill>
            <a:schemeClr val="accent1"/>
          </a:solidFill>
          <a:ln/>
        </p:spPr>
      </p:sp>
      <p:sp>
        <p:nvSpPr>
          <p:cNvPr id="25" name="Text 23"/>
          <p:cNvSpPr txBox="1"/>
          <p:nvPr/>
        </p:nvSpPr>
        <p:spPr>
          <a:xfrm>
            <a:off x="3429000" y="2743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3977640" y="2743200"/>
            <a:ext cx="1783080" cy="41148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Generate a report</a:t>
            </a:r>
            <a:endParaRPr lang="en-US" sz="1500" dirty="0"/>
          </a:p>
        </p:txBody>
      </p:sp>
      <p:sp>
        <p:nvSpPr>
          <p:cNvPr id="27" name="Text 25"/>
          <p:cNvSpPr txBox="1"/>
          <p:nvPr/>
        </p:nvSpPr>
        <p:spPr>
          <a:xfrm>
            <a:off x="3429000" y="3246120"/>
            <a:ext cx="233172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Findings, risks, and recommended actions</a:t>
            </a:r>
            <a:endParaRPr lang="en-US" sz="1300" dirty="0"/>
          </a:p>
        </p:txBody>
      </p:sp>
      <p:sp>
        <p:nvSpPr>
          <p:cNvPr id="28" name="Shape 26"/>
          <p:cNvSpPr/>
          <p:nvPr/>
        </p:nvSpPr>
        <p:spPr>
          <a:xfrm>
            <a:off x="6035040" y="2560320"/>
            <a:ext cx="2651760" cy="1280160"/>
          </a:xfrm>
          <a:prstGeom prst="roundRect">
            <a:avLst>
              <a:gd name="adj" fmla="val 5714"/>
            </a:avLst>
          </a:prstGeom>
          <a:solidFill>
            <a:schemeClr val="tx2"/>
          </a:solidFill>
          <a:ln/>
        </p:spPr>
      </p:sp>
      <p:sp>
        <p:nvSpPr>
          <p:cNvPr id="29" name="Shape 27"/>
          <p:cNvSpPr/>
          <p:nvPr/>
        </p:nvSpPr>
        <p:spPr>
          <a:xfrm>
            <a:off x="6217920" y="2743200"/>
            <a:ext cx="411480" cy="411480"/>
          </a:xfrm>
          <a:prstGeom prst="ellipse">
            <a:avLst/>
          </a:prstGeom>
          <a:solidFill>
            <a:schemeClr val="accent2"/>
          </a:solidFill>
          <a:ln/>
        </p:spPr>
      </p:sp>
      <p:sp>
        <p:nvSpPr>
          <p:cNvPr id="30" name="Text 28"/>
          <p:cNvSpPr txBox="1"/>
          <p:nvPr/>
        </p:nvSpPr>
        <p:spPr>
          <a:xfrm>
            <a:off x="6217920" y="2743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6766560" y="2743200"/>
            <a:ext cx="1783080" cy="41148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Human review</a:t>
            </a:r>
            <a:endParaRPr lang="en-US" sz="1500" dirty="0"/>
          </a:p>
        </p:txBody>
      </p:sp>
      <p:sp>
        <p:nvSpPr>
          <p:cNvPr id="32" name="Text 30"/>
          <p:cNvSpPr txBox="1"/>
          <p:nvPr/>
        </p:nvSpPr>
        <p:spPr>
          <a:xfrm>
            <a:off x="6217920" y="3246120"/>
            <a:ext cx="2331720" cy="54864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An authorized employee decides on payment</a:t>
            </a:r>
            <a:endParaRPr lang="en-US" sz="1300" dirty="0"/>
          </a:p>
        </p:txBody>
      </p:sp>
      <p:sp>
        <p:nvSpPr>
          <p:cNvPr id="33" name="Shape 31"/>
          <p:cNvSpPr/>
          <p:nvPr/>
        </p:nvSpPr>
        <p:spPr>
          <a:xfrm>
            <a:off x="457200" y="4069080"/>
            <a:ext cx="8229600" cy="640080"/>
          </a:xfrm>
          <a:prstGeom prst="roundRect">
            <a:avLst>
              <a:gd name="adj" fmla="val 11429"/>
            </a:avLst>
          </a:prstGeom>
          <a:solidFill>
            <a:schemeClr val="tx2"/>
          </a:solidFill>
          <a:ln/>
        </p:spPr>
      </p:sp>
      <p:sp>
        <p:nvSpPr>
          <p:cNvPr id="34" name="Text 32"/>
          <p:cNvSpPr txBox="1"/>
          <p:nvPr/>
        </p:nvSpPr>
        <p:spPr>
          <a:xfrm>
            <a:off x="685800" y="4069080"/>
            <a:ext cx="7772400" cy="64008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Key principle: </a:t>
            </a:r>
            <a:pPr indent="0" marL="0">
              <a:buNone/>
            </a:pPr>
            <a:r>
              <a:rPr lang="en-US" sz="1500" dirty="0">
                <a:solidFill>
                  <a:schemeClr val="bg1"/>
                </a:solidFill>
                <a:latin typeface="Calibri" pitchFamily="34" charset="0"/>
                <a:ea typeface="Calibri" pitchFamily="34" charset="-122"/>
                <a:cs typeface="Calibri" pitchFamily="34" charset="-120"/>
              </a:rPr>
              <a:t>a failed API call is an unresolved check, not proof that a vendor is invalid.</a:t>
            </a:r>
            <a:endParaRPr lang="en-US" sz="15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System architecture</a:t>
            </a:r>
            <a:endParaRPr lang="en-US" sz="3200" dirty="0"/>
          </a:p>
        </p:txBody>
      </p:sp>
      <p:sp>
        <p:nvSpPr>
          <p:cNvPr id="3" name="Shape 1"/>
          <p:cNvSpPr/>
          <p:nvPr/>
        </p:nvSpPr>
        <p:spPr>
          <a:xfrm>
            <a:off x="457200" y="1097280"/>
            <a:ext cx="1828800" cy="914400"/>
          </a:xfrm>
          <a:prstGeom prst="roundRect">
            <a:avLst>
              <a:gd name="adj" fmla="val 8000"/>
            </a:avLst>
          </a:prstGeom>
          <a:solidFill>
            <a:schemeClr val="tx2"/>
          </a:solidFill>
          <a:ln/>
        </p:spPr>
      </p:sp>
      <p:sp>
        <p:nvSpPr>
          <p:cNvPr id="4" name="Text 2"/>
          <p:cNvSpPr txBox="1"/>
          <p:nvPr/>
        </p:nvSpPr>
        <p:spPr>
          <a:xfrm>
            <a:off x="548640" y="1170432"/>
            <a:ext cx="1645920" cy="36576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1  Finance User</a:t>
            </a:r>
            <a:endParaRPr lang="en-US" sz="1300" dirty="0"/>
          </a:p>
        </p:txBody>
      </p:sp>
      <p:sp>
        <p:nvSpPr>
          <p:cNvPr id="5" name="Text 3"/>
          <p:cNvSpPr txBox="1"/>
          <p:nvPr/>
        </p:nvSpPr>
        <p:spPr>
          <a:xfrm>
            <a:off x="548640" y="1536192"/>
            <a:ext cx="1645920" cy="411480"/>
          </a:xfrm>
          <a:prstGeom prst="rect">
            <a:avLst/>
          </a:prstGeom>
          <a:noFill/>
          <a:ln/>
        </p:spPr>
        <p:txBody>
          <a:bodyPr wrap="square" lIns="0" tIns="0" rIns="0" bIns="0" rtlCol="0" anchor="t"/>
          <a:lstStyle/>
          <a:p>
            <a:pPr indent="0" marL="0">
              <a:buNone/>
            </a:pPr>
            <a:r>
              <a:rPr lang="en-US" sz="1100" dirty="0">
                <a:solidFill>
                  <a:schemeClr val="bg1"/>
                </a:solidFill>
                <a:latin typeface="Calibri" pitchFamily="34" charset="0"/>
                <a:ea typeface="Calibri" pitchFamily="34" charset="-122"/>
                <a:cs typeface="Calibri" pitchFamily="34" charset="-120"/>
              </a:rPr>
              <a:t>Vendor &amp; payment question</a:t>
            </a:r>
            <a:endParaRPr lang="en-US" sz="1100" dirty="0"/>
          </a:p>
        </p:txBody>
      </p:sp>
      <p:sp>
        <p:nvSpPr>
          <p:cNvPr id="6" name="Shape 4"/>
          <p:cNvSpPr/>
          <p:nvPr/>
        </p:nvSpPr>
        <p:spPr>
          <a:xfrm>
            <a:off x="2286000" y="1554480"/>
            <a:ext cx="301752" cy="0"/>
          </a:xfrm>
          <a:prstGeom prst="line">
            <a:avLst/>
          </a:prstGeom>
          <a:noFill/>
          <a:ln w="25400">
            <a:solidFill>
              <a:srgbClr val="4A6670"/>
            </a:solidFill>
            <a:prstDash val="solid"/>
            <a:tailEnd type="triangle"/>
          </a:ln>
        </p:spPr>
      </p:sp>
      <p:sp>
        <p:nvSpPr>
          <p:cNvPr id="7" name="Shape 5"/>
          <p:cNvSpPr/>
          <p:nvPr/>
        </p:nvSpPr>
        <p:spPr>
          <a:xfrm>
            <a:off x="2587752" y="1097280"/>
            <a:ext cx="1828800" cy="914400"/>
          </a:xfrm>
          <a:prstGeom prst="roundRect">
            <a:avLst>
              <a:gd name="adj" fmla="val 8000"/>
            </a:avLst>
          </a:prstGeom>
          <a:solidFill>
            <a:schemeClr val="tx2"/>
          </a:solidFill>
          <a:ln/>
        </p:spPr>
      </p:sp>
      <p:sp>
        <p:nvSpPr>
          <p:cNvPr id="8" name="Text 6"/>
          <p:cNvSpPr txBox="1"/>
          <p:nvPr/>
        </p:nvSpPr>
        <p:spPr>
          <a:xfrm>
            <a:off x="2679192" y="1170432"/>
            <a:ext cx="1645920" cy="36576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2  Web UI</a:t>
            </a:r>
            <a:endParaRPr lang="en-US" sz="1300" dirty="0"/>
          </a:p>
        </p:txBody>
      </p:sp>
      <p:sp>
        <p:nvSpPr>
          <p:cNvPr id="9" name="Text 7"/>
          <p:cNvSpPr txBox="1"/>
          <p:nvPr/>
        </p:nvSpPr>
        <p:spPr>
          <a:xfrm>
            <a:off x="2679192" y="1536192"/>
            <a:ext cx="1645920" cy="411480"/>
          </a:xfrm>
          <a:prstGeom prst="rect">
            <a:avLst/>
          </a:prstGeom>
          <a:noFill/>
          <a:ln/>
        </p:spPr>
        <p:txBody>
          <a:bodyPr wrap="square" lIns="0" tIns="0" rIns="0" bIns="0" rtlCol="0" anchor="t"/>
          <a:lstStyle/>
          <a:p>
            <a:pPr indent="0" marL="0">
              <a:buNone/>
            </a:pPr>
            <a:r>
              <a:rPr lang="en-US" sz="1100" dirty="0">
                <a:solidFill>
                  <a:schemeClr val="bg1"/>
                </a:solidFill>
                <a:latin typeface="Calibri" pitchFamily="34" charset="0"/>
                <a:ea typeface="Calibri" pitchFamily="34" charset="-122"/>
                <a:cs typeface="Calibri" pitchFamily="34" charset="-120"/>
              </a:rPr>
              <a:t>Chat • results • history</a:t>
            </a:r>
            <a:endParaRPr lang="en-US" sz="1100" dirty="0"/>
          </a:p>
        </p:txBody>
      </p:sp>
      <p:sp>
        <p:nvSpPr>
          <p:cNvPr id="10" name="Shape 8"/>
          <p:cNvSpPr/>
          <p:nvPr/>
        </p:nvSpPr>
        <p:spPr>
          <a:xfrm>
            <a:off x="4416552" y="1554480"/>
            <a:ext cx="301752" cy="0"/>
          </a:xfrm>
          <a:prstGeom prst="line">
            <a:avLst/>
          </a:prstGeom>
          <a:noFill/>
          <a:ln w="25400">
            <a:solidFill>
              <a:srgbClr val="4A6670"/>
            </a:solidFill>
            <a:prstDash val="solid"/>
            <a:tailEnd type="triangle"/>
          </a:ln>
        </p:spPr>
      </p:sp>
      <p:sp>
        <p:nvSpPr>
          <p:cNvPr id="11" name="Shape 9"/>
          <p:cNvSpPr/>
          <p:nvPr/>
        </p:nvSpPr>
        <p:spPr>
          <a:xfrm>
            <a:off x="4727448" y="1097280"/>
            <a:ext cx="1828800" cy="914400"/>
          </a:xfrm>
          <a:prstGeom prst="roundRect">
            <a:avLst>
              <a:gd name="adj" fmla="val 8000"/>
            </a:avLst>
          </a:prstGeom>
          <a:solidFill>
            <a:schemeClr val="tx2"/>
          </a:solidFill>
          <a:ln/>
        </p:spPr>
      </p:sp>
      <p:sp>
        <p:nvSpPr>
          <p:cNvPr id="12" name="Text 10"/>
          <p:cNvSpPr txBox="1"/>
          <p:nvPr/>
        </p:nvSpPr>
        <p:spPr>
          <a:xfrm>
            <a:off x="4818888" y="1170432"/>
            <a:ext cx="1645920" cy="36576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3  Node.js Backend</a:t>
            </a:r>
            <a:endParaRPr lang="en-US" sz="1300" dirty="0"/>
          </a:p>
        </p:txBody>
      </p:sp>
      <p:sp>
        <p:nvSpPr>
          <p:cNvPr id="13" name="Text 11"/>
          <p:cNvSpPr txBox="1"/>
          <p:nvPr/>
        </p:nvSpPr>
        <p:spPr>
          <a:xfrm>
            <a:off x="4818888" y="1536192"/>
            <a:ext cx="1645920" cy="411480"/>
          </a:xfrm>
          <a:prstGeom prst="rect">
            <a:avLst/>
          </a:prstGeom>
          <a:noFill/>
          <a:ln/>
        </p:spPr>
        <p:txBody>
          <a:bodyPr wrap="square" lIns="0" tIns="0" rIns="0" bIns="0" rtlCol="0" anchor="t"/>
          <a:lstStyle/>
          <a:p>
            <a:pPr indent="0" marL="0">
              <a:buNone/>
            </a:pPr>
            <a:r>
              <a:rPr lang="en-US" sz="1100" dirty="0">
                <a:solidFill>
                  <a:schemeClr val="bg1"/>
                </a:solidFill>
                <a:latin typeface="Calibri" pitchFamily="34" charset="0"/>
                <a:ea typeface="Calibri" pitchFamily="34" charset="-122"/>
                <a:cs typeface="Calibri" pitchFamily="34" charset="-120"/>
              </a:rPr>
              <a:t>/api/ask • validation • routing</a:t>
            </a:r>
            <a:endParaRPr lang="en-US" sz="1100" dirty="0"/>
          </a:p>
        </p:txBody>
      </p:sp>
      <p:sp>
        <p:nvSpPr>
          <p:cNvPr id="14" name="Shape 12"/>
          <p:cNvSpPr/>
          <p:nvPr/>
        </p:nvSpPr>
        <p:spPr>
          <a:xfrm>
            <a:off x="6556248" y="1554480"/>
            <a:ext cx="301752" cy="0"/>
          </a:xfrm>
          <a:prstGeom prst="line">
            <a:avLst/>
          </a:prstGeom>
          <a:noFill/>
          <a:ln w="25400">
            <a:solidFill>
              <a:srgbClr val="4A6670"/>
            </a:solidFill>
            <a:prstDash val="solid"/>
            <a:tailEnd type="triangle"/>
          </a:ln>
        </p:spPr>
      </p:sp>
      <p:sp>
        <p:nvSpPr>
          <p:cNvPr id="15" name="Shape 13"/>
          <p:cNvSpPr/>
          <p:nvPr/>
        </p:nvSpPr>
        <p:spPr>
          <a:xfrm>
            <a:off x="6858000" y="1097280"/>
            <a:ext cx="1828800" cy="914400"/>
          </a:xfrm>
          <a:prstGeom prst="roundRect">
            <a:avLst>
              <a:gd name="adj" fmla="val 8000"/>
            </a:avLst>
          </a:prstGeom>
          <a:solidFill>
            <a:schemeClr val="accent1"/>
          </a:solidFill>
          <a:ln/>
        </p:spPr>
      </p:sp>
      <p:sp>
        <p:nvSpPr>
          <p:cNvPr id="16" name="Text 14"/>
          <p:cNvSpPr txBox="1"/>
          <p:nvPr/>
        </p:nvSpPr>
        <p:spPr>
          <a:xfrm>
            <a:off x="6949440" y="1170432"/>
            <a:ext cx="1645920" cy="36576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4  MCP Tool Layer</a:t>
            </a:r>
            <a:endParaRPr lang="en-US" sz="1300" dirty="0"/>
          </a:p>
        </p:txBody>
      </p:sp>
      <p:sp>
        <p:nvSpPr>
          <p:cNvPr id="17" name="Text 15"/>
          <p:cNvSpPr txBox="1"/>
          <p:nvPr/>
        </p:nvSpPr>
        <p:spPr>
          <a:xfrm>
            <a:off x="6949440" y="1536192"/>
            <a:ext cx="1645920" cy="411480"/>
          </a:xfrm>
          <a:prstGeom prst="rect">
            <a:avLst/>
          </a:prstGeom>
          <a:noFill/>
          <a:ln/>
        </p:spPr>
        <p:txBody>
          <a:bodyPr wrap="square" lIns="0" tIns="0" rIns="0" bIns="0" rtlCol="0" anchor="t"/>
          <a:lstStyle/>
          <a:p>
            <a:pPr indent="0" marL="0">
              <a:buNone/>
            </a:pPr>
            <a:r>
              <a:rPr lang="en-US" sz="1100" dirty="0">
                <a:solidFill>
                  <a:schemeClr val="bg1"/>
                </a:solidFill>
                <a:latin typeface="Calibri" pitchFamily="34" charset="0"/>
                <a:ea typeface="Calibri" pitchFamily="34" charset="-122"/>
                <a:cs typeface="Calibri" pitchFamily="34" charset="-120"/>
              </a:rPr>
              <a:t>Approved tools • parsing • errors</a:t>
            </a:r>
            <a:endParaRPr lang="en-US" sz="1100" dirty="0"/>
          </a:p>
        </p:txBody>
      </p:sp>
      <p:sp>
        <p:nvSpPr>
          <p:cNvPr id="18" name="Shape 16"/>
          <p:cNvSpPr/>
          <p:nvPr/>
        </p:nvSpPr>
        <p:spPr>
          <a:xfrm>
            <a:off x="7772400" y="2011680"/>
            <a:ext cx="0" cy="365760"/>
          </a:xfrm>
          <a:prstGeom prst="line">
            <a:avLst/>
          </a:prstGeom>
          <a:noFill/>
          <a:ln w="25400">
            <a:solidFill>
              <a:srgbClr val="4A6670"/>
            </a:solidFill>
            <a:prstDash val="solid"/>
            <a:tailEnd type="triangle"/>
          </a:ln>
        </p:spPr>
      </p:sp>
      <p:sp>
        <p:nvSpPr>
          <p:cNvPr id="19" name="Shape 17"/>
          <p:cNvSpPr/>
          <p:nvPr/>
        </p:nvSpPr>
        <p:spPr>
          <a:xfrm>
            <a:off x="3291840" y="2423160"/>
            <a:ext cx="1737360" cy="777240"/>
          </a:xfrm>
          <a:prstGeom prst="roundRect">
            <a:avLst>
              <a:gd name="adj" fmla="val 9412"/>
            </a:avLst>
          </a:prstGeom>
          <a:solidFill>
            <a:schemeClr val="bg2"/>
          </a:solidFill>
          <a:ln/>
        </p:spPr>
      </p:sp>
      <p:sp>
        <p:nvSpPr>
          <p:cNvPr id="20" name="Text 18"/>
          <p:cNvSpPr txBox="1"/>
          <p:nvPr/>
        </p:nvSpPr>
        <p:spPr>
          <a:xfrm>
            <a:off x="3383280" y="2468880"/>
            <a:ext cx="1554480" cy="3657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Pay2All</a:t>
            </a:r>
            <a:endParaRPr lang="en-US" sz="1400" dirty="0"/>
          </a:p>
        </p:txBody>
      </p:sp>
      <p:sp>
        <p:nvSpPr>
          <p:cNvPr id="21" name="Text 19"/>
          <p:cNvSpPr txBox="1"/>
          <p:nvPr/>
        </p:nvSpPr>
        <p:spPr>
          <a:xfrm>
            <a:off x="3383280" y="2816352"/>
            <a:ext cx="1554480" cy="32004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Balance, providers</a:t>
            </a:r>
            <a:endParaRPr lang="en-US" sz="1200" dirty="0"/>
          </a:p>
        </p:txBody>
      </p:sp>
      <p:sp>
        <p:nvSpPr>
          <p:cNvPr id="22" name="Shape 20"/>
          <p:cNvSpPr/>
          <p:nvPr/>
        </p:nvSpPr>
        <p:spPr>
          <a:xfrm>
            <a:off x="4160520" y="3200400"/>
            <a:ext cx="0" cy="274320"/>
          </a:xfrm>
          <a:prstGeom prst="line">
            <a:avLst/>
          </a:prstGeom>
          <a:noFill/>
          <a:ln w="25400">
            <a:solidFill>
              <a:srgbClr val="4A6670"/>
            </a:solidFill>
            <a:prstDash val="solid"/>
            <a:tailEnd type="triangle"/>
          </a:ln>
        </p:spPr>
      </p:sp>
      <p:sp>
        <p:nvSpPr>
          <p:cNvPr id="23" name="Shape 21"/>
          <p:cNvSpPr/>
          <p:nvPr/>
        </p:nvSpPr>
        <p:spPr>
          <a:xfrm>
            <a:off x="5120640" y="2423160"/>
            <a:ext cx="1737360" cy="777240"/>
          </a:xfrm>
          <a:prstGeom prst="roundRect">
            <a:avLst>
              <a:gd name="adj" fmla="val 9412"/>
            </a:avLst>
          </a:prstGeom>
          <a:solidFill>
            <a:schemeClr val="bg2"/>
          </a:solidFill>
          <a:ln/>
        </p:spPr>
      </p:sp>
      <p:sp>
        <p:nvSpPr>
          <p:cNvPr id="24" name="Text 22"/>
          <p:cNvSpPr txBox="1"/>
          <p:nvPr/>
        </p:nvSpPr>
        <p:spPr>
          <a:xfrm>
            <a:off x="5212080" y="2468880"/>
            <a:ext cx="1554480" cy="3657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GSTIN API</a:t>
            </a:r>
            <a:endParaRPr lang="en-US" sz="1400" dirty="0"/>
          </a:p>
        </p:txBody>
      </p:sp>
      <p:sp>
        <p:nvSpPr>
          <p:cNvPr id="25" name="Text 23"/>
          <p:cNvSpPr txBox="1"/>
          <p:nvPr/>
        </p:nvSpPr>
        <p:spPr>
          <a:xfrm>
            <a:off x="5212080" y="2816352"/>
            <a:ext cx="1554480" cy="32004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Tax verification</a:t>
            </a:r>
            <a:endParaRPr lang="en-US" sz="1200" dirty="0"/>
          </a:p>
        </p:txBody>
      </p:sp>
      <p:sp>
        <p:nvSpPr>
          <p:cNvPr id="26" name="Shape 24"/>
          <p:cNvSpPr/>
          <p:nvPr/>
        </p:nvSpPr>
        <p:spPr>
          <a:xfrm>
            <a:off x="5989320" y="3200400"/>
            <a:ext cx="0" cy="274320"/>
          </a:xfrm>
          <a:prstGeom prst="line">
            <a:avLst/>
          </a:prstGeom>
          <a:noFill/>
          <a:ln w="25400">
            <a:solidFill>
              <a:srgbClr val="4A6670"/>
            </a:solidFill>
            <a:prstDash val="solid"/>
            <a:tailEnd type="triangle"/>
          </a:ln>
        </p:spPr>
      </p:sp>
      <p:sp>
        <p:nvSpPr>
          <p:cNvPr id="27" name="Shape 25"/>
          <p:cNvSpPr/>
          <p:nvPr/>
        </p:nvSpPr>
        <p:spPr>
          <a:xfrm>
            <a:off x="6949440" y="2423160"/>
            <a:ext cx="1737360" cy="777240"/>
          </a:xfrm>
          <a:prstGeom prst="roundRect">
            <a:avLst>
              <a:gd name="adj" fmla="val 9412"/>
            </a:avLst>
          </a:prstGeom>
          <a:solidFill>
            <a:schemeClr val="bg2"/>
          </a:solidFill>
          <a:ln/>
        </p:spPr>
      </p:sp>
      <p:sp>
        <p:nvSpPr>
          <p:cNvPr id="28" name="Text 26"/>
          <p:cNvSpPr txBox="1"/>
          <p:nvPr/>
        </p:nvSpPr>
        <p:spPr>
          <a:xfrm>
            <a:off x="7040880" y="2468880"/>
            <a:ext cx="1554480" cy="3657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Leegality</a:t>
            </a:r>
            <a:endParaRPr lang="en-US" sz="1400" dirty="0"/>
          </a:p>
        </p:txBody>
      </p:sp>
      <p:sp>
        <p:nvSpPr>
          <p:cNvPr id="29" name="Text 27"/>
          <p:cNvSpPr txBox="1"/>
          <p:nvPr/>
        </p:nvSpPr>
        <p:spPr>
          <a:xfrm>
            <a:off x="7040880" y="2816352"/>
            <a:ext cx="1554480" cy="32004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Contract records</a:t>
            </a:r>
            <a:endParaRPr lang="en-US" sz="1200" dirty="0"/>
          </a:p>
        </p:txBody>
      </p:sp>
      <p:sp>
        <p:nvSpPr>
          <p:cNvPr id="30" name="Shape 28"/>
          <p:cNvSpPr/>
          <p:nvPr/>
        </p:nvSpPr>
        <p:spPr>
          <a:xfrm>
            <a:off x="7818120" y="3200400"/>
            <a:ext cx="0" cy="274320"/>
          </a:xfrm>
          <a:prstGeom prst="line">
            <a:avLst/>
          </a:prstGeom>
          <a:noFill/>
          <a:ln w="25400">
            <a:solidFill>
              <a:srgbClr val="4A6670"/>
            </a:solidFill>
            <a:prstDash val="solid"/>
            <a:tailEnd type="triangle"/>
          </a:ln>
        </p:spPr>
      </p:sp>
      <p:sp>
        <p:nvSpPr>
          <p:cNvPr id="31" name="Text 29"/>
          <p:cNvSpPr txBox="1"/>
          <p:nvPr/>
        </p:nvSpPr>
        <p:spPr>
          <a:xfrm>
            <a:off x="457200" y="2423160"/>
            <a:ext cx="2560320" cy="777240"/>
          </a:xfrm>
          <a:prstGeom prst="rect">
            <a:avLst/>
          </a:prstGeom>
          <a:noFill/>
          <a:ln/>
        </p:spPr>
        <p:txBody>
          <a:bodyPr wrap="square" lIns="0" tIns="0" rIns="0" bIns="0" rtlCol="0" anchor="ctr"/>
          <a:lstStyle/>
          <a:p>
            <a:pPr indent="0" marL="0">
              <a:buNone/>
            </a:pPr>
            <a:r>
              <a:rPr lang="en-US" sz="1400" i="1" dirty="0">
                <a:solidFill>
                  <a:schemeClr val="accent5"/>
                </a:solidFill>
                <a:latin typeface="Calibri" pitchFamily="34" charset="0"/>
                <a:ea typeface="Calibri" pitchFamily="34" charset="-122"/>
                <a:cs typeface="Calibri" pitchFamily="34" charset="-120"/>
              </a:rPr>
              <a:t>External systems</a:t>
            </a:r>
            <a:endParaRPr lang="en-US" sz="1400" dirty="0"/>
          </a:p>
        </p:txBody>
      </p:sp>
      <p:sp>
        <p:nvSpPr>
          <p:cNvPr id="32" name="Shape 30"/>
          <p:cNvSpPr/>
          <p:nvPr/>
        </p:nvSpPr>
        <p:spPr>
          <a:xfrm>
            <a:off x="457200" y="3520440"/>
            <a:ext cx="8229600" cy="731520"/>
          </a:xfrm>
          <a:prstGeom prst="roundRect">
            <a:avLst>
              <a:gd name="adj" fmla="val 10000"/>
            </a:avLst>
          </a:prstGeom>
          <a:solidFill>
            <a:schemeClr val="accent2"/>
          </a:solidFill>
          <a:ln/>
        </p:spPr>
      </p:sp>
      <p:sp>
        <p:nvSpPr>
          <p:cNvPr id="33" name="Text 31"/>
          <p:cNvSpPr txBox="1"/>
          <p:nvPr/>
        </p:nvSpPr>
        <p:spPr>
          <a:xfrm>
            <a:off x="685800" y="3520440"/>
            <a:ext cx="7772400" cy="73152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5  Compliance Report  </a:t>
            </a:r>
            <a:pPr indent="0" marL="0">
              <a:buNone/>
            </a:pPr>
            <a:r>
              <a:rPr lang="en-US" sz="1500" dirty="0">
                <a:solidFill>
                  <a:schemeClr val="tx1"/>
                </a:solidFill>
                <a:latin typeface="Calibri" pitchFamily="34" charset="0"/>
                <a:ea typeface="Calibri" pitchFamily="34" charset="-122"/>
                <a:cs typeface="Calibri" pitchFamily="34" charset="-120"/>
              </a:rPr>
              <a:t>Evidence • missing checks • risks • recommendations</a:t>
            </a:r>
            <a:endParaRPr lang="en-US" sz="1500" dirty="0"/>
          </a:p>
        </p:txBody>
      </p:sp>
      <p:sp>
        <p:nvSpPr>
          <p:cNvPr id="34" name="Text 32"/>
          <p:cNvSpPr txBox="1"/>
          <p:nvPr/>
        </p:nvSpPr>
        <p:spPr>
          <a:xfrm>
            <a:off x="457200" y="4389120"/>
            <a:ext cx="7772400" cy="27432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Logical design: each integration must be configured and tested; the diagram does not imply every check currently works.</a:t>
            </a:r>
            <a:endParaRPr lang="en-US" sz="11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MCP tools and integrations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2834640"/>
                <a:gridCol w="3657600"/>
              </a:tblGrid>
              <a:tr h="384048">
                <a:tc>
                  <a:txBody>
                    <a:bodyPr/>
                    <a:lstStyle/>
                    <a:p>
                      <a:pPr indent="0" marL="0">
                        <a:buNone/>
                      </a:pPr>
                      <a:r>
                        <a:rPr lang="en-US" sz="1300" b="1" dirty="0">
                          <a:solidFill>
                            <a:schemeClr val="bg1"/>
                          </a:solidFill>
                        </a:rPr>
                        <a:t>Integration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Tool</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Purpose</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r>
              <a:tr h="38404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Pay2All</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rgbClr val="000000"/>
                          </a:solidFill>
                          <a:latin typeface="Courier New" pitchFamily="34" charset="0"/>
                          <a:ea typeface="Courier New" pitchFamily="34" charset="-122"/>
                          <a:cs typeface="Courier New" pitchFamily="34" charset="-120"/>
                        </a:rPr>
                        <a:t>get_balance</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Retrieve current wallet balance</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Pay2All</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rgbClr val="000000"/>
                          </a:solidFill>
                          <a:latin typeface="Courier New" pitchFamily="34" charset="0"/>
                          <a:ea typeface="Courier New" pitchFamily="34" charset="-122"/>
                          <a:cs typeface="Courier New" pitchFamily="34" charset="-120"/>
                        </a:rPr>
                        <a:t>get_providers</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Retrieve available service providers</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GSTIN verification</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rgbClr val="000000"/>
                          </a:solidFill>
                          <a:latin typeface="Courier New" pitchFamily="34" charset="0"/>
                          <a:ea typeface="Courier New" pitchFamily="34" charset="-122"/>
                          <a:cs typeface="Courier New" pitchFamily="34" charset="-120"/>
                        </a:rPr>
                        <a:t>verify_vendor_gstin</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Request a vendor tax-registration check</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Leegality</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rgbClr val="000000"/>
                          </a:solidFill>
                          <a:latin typeface="Courier New" pitchFamily="34" charset="0"/>
                          <a:ea typeface="Courier New" pitchFamily="34" charset="-122"/>
                          <a:cs typeface="Courier New" pitchFamily="34" charset="-120"/>
                        </a:rPr>
                        <a:t>Search_Leegality_Documents</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Find relevant agreement records</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Leegality</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rgbClr val="000000"/>
                          </a:solidFill>
                          <a:latin typeface="Courier New" pitchFamily="34" charset="0"/>
                          <a:ea typeface="Courier New" pitchFamily="34" charset="-122"/>
                          <a:cs typeface="Courier New" pitchFamily="34" charset="-120"/>
                        </a:rPr>
                        <a:t>Get_Leegality_Document</a:t>
                      </a:r>
                      <a:endParaRPr lang="en-US" sz="1200" dirty="0">
                        <a:latin typeface="Courier New" charset="0"/>
                        <a:ea typeface="Courier New" charset="0"/>
                        <a:cs typeface="Courier New"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Retrieve details for a selected agreement</a:t>
                      </a:r>
                      <a:endParaRPr lang="en-US" sz="12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Shape 1"/>
          <p:cNvSpPr/>
          <p:nvPr/>
        </p:nvSpPr>
        <p:spPr>
          <a:xfrm>
            <a:off x="457200" y="3657600"/>
            <a:ext cx="8229600" cy="777240"/>
          </a:xfrm>
          <a:prstGeom prst="roundRect">
            <a:avLst>
              <a:gd name="adj" fmla="val 9412"/>
            </a:avLst>
          </a:prstGeom>
          <a:solidFill>
            <a:schemeClr val="tx2"/>
          </a:solidFill>
          <a:ln/>
        </p:spPr>
      </p:sp>
      <p:sp>
        <p:nvSpPr>
          <p:cNvPr id="5" name="Text 2"/>
          <p:cNvSpPr txBox="1"/>
          <p:nvPr/>
        </p:nvSpPr>
        <p:spPr>
          <a:xfrm>
            <a:off x="685800" y="3657600"/>
            <a:ext cx="7772400" cy="77724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Why MCP? </a:t>
            </a:r>
            <a:pPr indent="0" marL="0">
              <a:buNone/>
            </a:pPr>
            <a:r>
              <a:rPr lang="en-US" sz="1400" dirty="0">
                <a:solidFill>
                  <a:schemeClr val="bg1"/>
                </a:solidFill>
                <a:latin typeface="Calibri" pitchFamily="34" charset="0"/>
                <a:ea typeface="Calibri" pitchFamily="34" charset="-122"/>
                <a:cs typeface="Calibri" pitchFamily="34" charset="-120"/>
              </a:rPr>
              <a:t>A standard way for compatible AI clients to call tools, without a separate custom integration for every operation.</a:t>
            </a:r>
            <a:endParaRPr lang="en-US" sz="1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Real-world example: ₹85,000 to VENDOR100</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731520"/>
                <a:gridCol w="3657600"/>
                <a:gridCol w="3840480"/>
              </a:tblGrid>
              <a:tr h="329184">
                <a:tc>
                  <a:txBody>
                    <a:bodyPr/>
                    <a:lstStyle/>
                    <a:p>
                      <a:pPr indent="0" marL="0">
                        <a:buNone/>
                      </a:pPr>
                      <a:r>
                        <a:rPr lang="en-US" sz="1300" b="1" dirty="0">
                          <a:solidFill>
                            <a:schemeClr val="bg1"/>
                          </a:solidFill>
                        </a:rPr>
                        <a:t>Step</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Action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Expected output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r>
              <a:tr h="329184">
                <a:tc>
                  <a:txBody>
                    <a:bodyPr/>
                    <a:lstStyle/>
                    <a:p>
                      <a:pPr algn="ctr" indent="0" marL="0">
                        <a:buNone/>
                      </a:pPr>
                      <a:r>
                        <a:rPr lang="en-US" sz="1200" b="1" dirty="0">
                          <a:solidFill>
                            <a:srgbClr val="000000"/>
                          </a:solidFill>
                        </a:rPr>
                        <a:t>1</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rgbClr val="000000"/>
                          </a:solidFill>
                        </a:rPr>
                        <a:t>User submits vendor and amount</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rgbClr val="000000"/>
                          </a:solidFill>
                        </a:rPr>
                        <a:t>Request validated</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ctr" indent="0" marL="0">
                        <a:buNone/>
                      </a:pPr>
                      <a:r>
                        <a:rPr lang="en-US" sz="1200" b="1" dirty="0">
                          <a:solidFill>
                            <a:srgbClr val="000000"/>
                          </a:solidFill>
                        </a:rPr>
                        <a:t>2</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rgbClr val="000000"/>
                          </a:solidFill>
                        </a:rPr>
                        <a:t>Retrieve Pay2All balance</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rgbClr val="000000"/>
                          </a:solidFill>
                        </a:rPr>
                        <a:t>Balance and API status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ctr" indent="0" marL="0">
                        <a:buNone/>
                      </a:pPr>
                      <a:r>
                        <a:rPr lang="en-US" sz="1200" b="1" dirty="0">
                          <a:solidFill>
                            <a:srgbClr val="000000"/>
                          </a:solidFill>
                        </a:rPr>
                        <a:t>3</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rgbClr val="000000"/>
                          </a:solidFill>
                        </a:rPr>
                        <a:t>Verify vendor GSTIN</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rgbClr val="000000"/>
                          </a:solidFill>
                        </a:rPr>
                        <a:t>Result or explicit error</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ctr" indent="0" marL="0">
                        <a:buNone/>
                      </a:pPr>
                      <a:r>
                        <a:rPr lang="en-US" sz="1200" b="1" dirty="0">
                          <a:solidFill>
                            <a:srgbClr val="000000"/>
                          </a:solidFill>
                        </a:rPr>
                        <a:t>4</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rgbClr val="000000"/>
                          </a:solidFill>
                        </a:rPr>
                        <a:t>Search Leegality</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rgbClr val="000000"/>
                          </a:solidFill>
                        </a:rPr>
                        <a:t>Agreement IDs and statuses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29184">
                <a:tc>
                  <a:txBody>
                    <a:bodyPr/>
                    <a:lstStyle/>
                    <a:p>
                      <a:pPr algn="ctr" indent="0" marL="0">
                        <a:buNone/>
                      </a:pPr>
                      <a:r>
                        <a:rPr lang="en-US" sz="1200" b="1" dirty="0">
                          <a:solidFill>
                            <a:srgbClr val="000000"/>
                          </a:solidFill>
                        </a:rPr>
                        <a:t>5</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rgbClr val="000000"/>
                          </a:solidFill>
                        </a:rPr>
                        <a:t>Review evidence</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200" dirty="0">
                          <a:solidFill>
                            <a:srgbClr val="000000"/>
                          </a:solidFill>
                        </a:rPr>
                        <a:t>Missing documents, unresolved checks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29184">
                <a:tc>
                  <a:txBody>
                    <a:bodyPr/>
                    <a:lstStyle/>
                    <a:p>
                      <a:pPr algn="ctr" indent="0" marL="0">
                        <a:buNone/>
                      </a:pPr>
                      <a:r>
                        <a:rPr lang="en-US" sz="1200" b="1" dirty="0">
                          <a:solidFill>
                            <a:srgbClr val="000000"/>
                          </a:solidFill>
                        </a:rPr>
                        <a:t>6</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rgbClr val="000000"/>
                          </a:solidFill>
                        </a:rPr>
                        <a:t>Generate report</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200" dirty="0">
                          <a:solidFill>
                            <a:srgbClr val="000000"/>
                          </a:solidFill>
                        </a:rPr>
                        <a:t>Findings and next steps</a:t>
                      </a:r>
                      <a:endParaRPr lang="en-US" sz="12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Shape 1"/>
          <p:cNvSpPr/>
          <p:nvPr/>
        </p:nvSpPr>
        <p:spPr>
          <a:xfrm>
            <a:off x="457200" y="3611880"/>
            <a:ext cx="8229600" cy="731520"/>
          </a:xfrm>
          <a:prstGeom prst="roundRect">
            <a:avLst>
              <a:gd name="adj" fmla="val 10000"/>
            </a:avLst>
          </a:prstGeom>
          <a:solidFill>
            <a:schemeClr val="tx2"/>
          </a:solidFill>
          <a:ln/>
        </p:spPr>
      </p:sp>
      <p:sp>
        <p:nvSpPr>
          <p:cNvPr id="5" name="Text 2"/>
          <p:cNvSpPr txBox="1"/>
          <p:nvPr/>
        </p:nvSpPr>
        <p:spPr>
          <a:xfrm>
            <a:off x="685800" y="3611880"/>
            <a:ext cx="7772400" cy="731520"/>
          </a:xfrm>
          <a:prstGeom prst="rect">
            <a:avLst/>
          </a:prstGeom>
          <a:noFill/>
          <a:ln/>
        </p:spPr>
        <p:txBody>
          <a:bodyPr wrap="square" lIns="0" tIns="0" rIns="0" bIns="0" rtlCol="0" anchor="ctr"/>
          <a:lstStyle/>
          <a:p>
            <a:pPr indent="0" marL="0">
              <a:buNone/>
            </a:pPr>
            <a:r>
              <a:rPr lang="en-US" sz="1300" dirty="0">
                <a:solidFill>
                  <a:schemeClr val="bg1"/>
                </a:solidFill>
                <a:latin typeface="Calibri" pitchFamily="34" charset="0"/>
                <a:ea typeface="Calibri" pitchFamily="34" charset="-122"/>
                <a:cs typeface="Calibri" pitchFamily="34" charset="-120"/>
              </a:rPr>
              <a:t>Example conclusion: “The payment requires further review because GSTIN verification did not complete and the matching contract's signature status is not confirmed.”</a:t>
            </a:r>
            <a:endParaRPr lang="en-US" sz="1300" dirty="0"/>
          </a:p>
        </p:txBody>
      </p:sp>
      <p:sp>
        <p:nvSpPr>
          <p:cNvPr id="6" name="Text 3"/>
          <p:cNvSpPr txBox="1"/>
          <p:nvPr/>
        </p:nvSpPr>
        <p:spPr>
          <a:xfrm>
            <a:off x="457200" y="4434840"/>
            <a:ext cx="7772400" cy="27432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Illustrative only; the final report must use the actual results returned for that vendor.</a:t>
            </a:r>
            <a:endParaRPr lang="en-US" sz="11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the current prototype shows</a:t>
            </a:r>
            <a:endParaRPr lang="en-US" sz="3200" dirty="0"/>
          </a:p>
        </p:txBody>
      </p:sp>
      <p:sp>
        <p:nvSpPr>
          <p:cNvPr id="3" name="Shape 1"/>
          <p:cNvSpPr/>
          <p:nvPr/>
        </p:nvSpPr>
        <p:spPr>
          <a:xfrm>
            <a:off x="457200" y="1143000"/>
            <a:ext cx="4023360" cy="1463040"/>
          </a:xfrm>
          <a:prstGeom prst="roundRect">
            <a:avLst>
              <a:gd name="adj" fmla="val 5000"/>
            </a:avLst>
          </a:prstGeom>
          <a:solidFill>
            <a:schemeClr val="bg2"/>
          </a:solidFill>
          <a:ln/>
        </p:spPr>
      </p:sp>
      <p:sp>
        <p:nvSpPr>
          <p:cNvPr id="4" name="Text 2"/>
          <p:cNvSpPr txBox="1"/>
          <p:nvPr/>
        </p:nvSpPr>
        <p:spPr>
          <a:xfrm>
            <a:off x="685800" y="1325880"/>
            <a:ext cx="22860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Pay2All balance</a:t>
            </a:r>
            <a:endParaRPr lang="en-US" sz="1800" dirty="0"/>
          </a:p>
        </p:txBody>
      </p:sp>
      <p:sp>
        <p:nvSpPr>
          <p:cNvPr id="5" name="Shape 3"/>
          <p:cNvSpPr/>
          <p:nvPr/>
        </p:nvSpPr>
        <p:spPr>
          <a:xfrm>
            <a:off x="3200400" y="1344168"/>
            <a:ext cx="1051560" cy="329184"/>
          </a:xfrm>
          <a:prstGeom prst="roundRect">
            <a:avLst>
              <a:gd name="adj" fmla="val 50000"/>
            </a:avLst>
          </a:prstGeom>
          <a:solidFill>
            <a:schemeClr val="accent6"/>
          </a:solidFill>
          <a:ln/>
        </p:spPr>
      </p:sp>
      <p:sp>
        <p:nvSpPr>
          <p:cNvPr id="6" name="Text 4"/>
          <p:cNvSpPr txBox="1"/>
          <p:nvPr/>
        </p:nvSpPr>
        <p:spPr>
          <a:xfrm>
            <a:off x="3200400" y="1344168"/>
            <a:ext cx="1051560"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Retrieved</a:t>
            </a:r>
            <a:endParaRPr lang="en-US" sz="1200" dirty="0"/>
          </a:p>
        </p:txBody>
      </p:sp>
      <p:sp>
        <p:nvSpPr>
          <p:cNvPr id="7" name="Text 5"/>
          <p:cNvSpPr txBox="1"/>
          <p:nvPr/>
        </p:nvSpPr>
        <p:spPr>
          <a:xfrm>
            <a:off x="685800" y="1828800"/>
            <a:ext cx="356616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Organization “Navyasri” returned a wallet balance of ₹0.00 INR.</a:t>
            </a:r>
            <a:endParaRPr lang="en-US" sz="1400" dirty="0"/>
          </a:p>
        </p:txBody>
      </p:sp>
      <p:sp>
        <p:nvSpPr>
          <p:cNvPr id="8" name="Shape 6"/>
          <p:cNvSpPr/>
          <p:nvPr/>
        </p:nvSpPr>
        <p:spPr>
          <a:xfrm>
            <a:off x="4663440" y="1143000"/>
            <a:ext cx="4023360" cy="1463040"/>
          </a:xfrm>
          <a:prstGeom prst="roundRect">
            <a:avLst>
              <a:gd name="adj" fmla="val 5000"/>
            </a:avLst>
          </a:prstGeom>
          <a:solidFill>
            <a:schemeClr val="bg2"/>
          </a:solidFill>
          <a:ln/>
        </p:spPr>
      </p:sp>
      <p:sp>
        <p:nvSpPr>
          <p:cNvPr id="9" name="Text 7"/>
          <p:cNvSpPr txBox="1"/>
          <p:nvPr/>
        </p:nvSpPr>
        <p:spPr>
          <a:xfrm>
            <a:off x="4892040" y="1325880"/>
            <a:ext cx="22860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Leegality search</a:t>
            </a:r>
            <a:endParaRPr lang="en-US" sz="1800" dirty="0"/>
          </a:p>
        </p:txBody>
      </p:sp>
      <p:sp>
        <p:nvSpPr>
          <p:cNvPr id="10" name="Shape 8"/>
          <p:cNvSpPr/>
          <p:nvPr/>
        </p:nvSpPr>
        <p:spPr>
          <a:xfrm>
            <a:off x="7406640" y="1344168"/>
            <a:ext cx="1051560" cy="329184"/>
          </a:xfrm>
          <a:prstGeom prst="roundRect">
            <a:avLst>
              <a:gd name="adj" fmla="val 50000"/>
            </a:avLst>
          </a:prstGeom>
          <a:solidFill>
            <a:schemeClr val="accent2"/>
          </a:solidFill>
          <a:ln/>
        </p:spPr>
      </p:sp>
      <p:sp>
        <p:nvSpPr>
          <p:cNvPr id="11" name="Text 9"/>
          <p:cNvSpPr txBox="1"/>
          <p:nvPr/>
        </p:nvSpPr>
        <p:spPr>
          <a:xfrm>
            <a:off x="7406640" y="1344168"/>
            <a:ext cx="1051560" cy="329184"/>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Partial</a:t>
            </a:r>
            <a:endParaRPr lang="en-US" sz="1200" dirty="0"/>
          </a:p>
        </p:txBody>
      </p:sp>
      <p:sp>
        <p:nvSpPr>
          <p:cNvPr id="12" name="Text 10"/>
          <p:cNvSpPr txBox="1"/>
          <p:nvPr/>
        </p:nvSpPr>
        <p:spPr>
          <a:xfrm>
            <a:off x="4892040" y="1828800"/>
            <a:ext cx="356616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Five agreement records returned; all five show DRAFT status.</a:t>
            </a:r>
            <a:endParaRPr lang="en-US" sz="1400" dirty="0"/>
          </a:p>
        </p:txBody>
      </p:sp>
      <p:sp>
        <p:nvSpPr>
          <p:cNvPr id="13" name="Shape 11"/>
          <p:cNvSpPr/>
          <p:nvPr/>
        </p:nvSpPr>
        <p:spPr>
          <a:xfrm>
            <a:off x="457200" y="2743200"/>
            <a:ext cx="4023360" cy="1463040"/>
          </a:xfrm>
          <a:prstGeom prst="roundRect">
            <a:avLst>
              <a:gd name="adj" fmla="val 5000"/>
            </a:avLst>
          </a:prstGeom>
          <a:solidFill>
            <a:schemeClr val="bg2"/>
          </a:solidFill>
          <a:ln/>
        </p:spPr>
      </p:sp>
      <p:sp>
        <p:nvSpPr>
          <p:cNvPr id="14" name="Text 12"/>
          <p:cNvSpPr txBox="1"/>
          <p:nvPr/>
        </p:nvSpPr>
        <p:spPr>
          <a:xfrm>
            <a:off x="685800" y="2926080"/>
            <a:ext cx="22860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GSTIN verification</a:t>
            </a:r>
            <a:endParaRPr lang="en-US" sz="1800" dirty="0"/>
          </a:p>
        </p:txBody>
      </p:sp>
      <p:sp>
        <p:nvSpPr>
          <p:cNvPr id="15" name="Shape 13"/>
          <p:cNvSpPr/>
          <p:nvPr/>
        </p:nvSpPr>
        <p:spPr>
          <a:xfrm>
            <a:off x="3200400" y="2944368"/>
            <a:ext cx="1051560" cy="329184"/>
          </a:xfrm>
          <a:prstGeom prst="roundRect">
            <a:avLst>
              <a:gd name="adj" fmla="val 50000"/>
            </a:avLst>
          </a:prstGeom>
          <a:solidFill>
            <a:schemeClr val="accent3"/>
          </a:solidFill>
          <a:ln/>
        </p:spPr>
      </p:sp>
      <p:sp>
        <p:nvSpPr>
          <p:cNvPr id="16" name="Text 14"/>
          <p:cNvSpPr txBox="1"/>
          <p:nvPr/>
        </p:nvSpPr>
        <p:spPr>
          <a:xfrm>
            <a:off x="3200400" y="2944368"/>
            <a:ext cx="1051560"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Error</a:t>
            </a:r>
            <a:endParaRPr lang="en-US" sz="1200" dirty="0"/>
          </a:p>
        </p:txBody>
      </p:sp>
      <p:sp>
        <p:nvSpPr>
          <p:cNvPr id="17" name="Text 15"/>
          <p:cNvSpPr txBox="1"/>
          <p:nvPr/>
        </p:nvSpPr>
        <p:spPr>
          <a:xfrm>
            <a:off x="685800" y="3429000"/>
            <a:ext cx="356616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Tool returned an execution error; vendor GSTIN validity not established.</a:t>
            </a:r>
            <a:endParaRPr lang="en-US" sz="1400" dirty="0"/>
          </a:p>
        </p:txBody>
      </p:sp>
      <p:sp>
        <p:nvSpPr>
          <p:cNvPr id="18" name="Shape 16"/>
          <p:cNvSpPr/>
          <p:nvPr/>
        </p:nvSpPr>
        <p:spPr>
          <a:xfrm>
            <a:off x="4663440" y="2743200"/>
            <a:ext cx="4023360" cy="1463040"/>
          </a:xfrm>
          <a:prstGeom prst="roundRect">
            <a:avLst>
              <a:gd name="adj" fmla="val 5000"/>
            </a:avLst>
          </a:prstGeom>
          <a:solidFill>
            <a:schemeClr val="bg2"/>
          </a:solidFill>
          <a:ln/>
        </p:spPr>
      </p:sp>
      <p:sp>
        <p:nvSpPr>
          <p:cNvPr id="19" name="Text 17"/>
          <p:cNvSpPr txBox="1"/>
          <p:nvPr/>
        </p:nvSpPr>
        <p:spPr>
          <a:xfrm>
            <a:off x="4892040" y="2926080"/>
            <a:ext cx="22860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Backend routing</a:t>
            </a:r>
            <a:endParaRPr lang="en-US" sz="1800" dirty="0"/>
          </a:p>
        </p:txBody>
      </p:sp>
      <p:sp>
        <p:nvSpPr>
          <p:cNvPr id="20" name="Shape 18"/>
          <p:cNvSpPr/>
          <p:nvPr/>
        </p:nvSpPr>
        <p:spPr>
          <a:xfrm>
            <a:off x="7406640" y="2944368"/>
            <a:ext cx="1051560" cy="329184"/>
          </a:xfrm>
          <a:prstGeom prst="roundRect">
            <a:avLst>
              <a:gd name="adj" fmla="val 50000"/>
            </a:avLst>
          </a:prstGeom>
          <a:solidFill>
            <a:schemeClr val="accent3"/>
          </a:solidFill>
          <a:ln/>
        </p:spPr>
      </p:sp>
      <p:sp>
        <p:nvSpPr>
          <p:cNvPr id="21" name="Text 19"/>
          <p:cNvSpPr txBox="1"/>
          <p:nvPr/>
        </p:nvSpPr>
        <p:spPr>
          <a:xfrm>
            <a:off x="7406640" y="2944368"/>
            <a:ext cx="1051560"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Needs fix</a:t>
            </a:r>
            <a:endParaRPr lang="en-US" sz="1200" dirty="0"/>
          </a:p>
        </p:txBody>
      </p:sp>
      <p:sp>
        <p:nvSpPr>
          <p:cNvPr id="22" name="Text 20"/>
          <p:cNvSpPr txBox="1"/>
          <p:nvPr/>
        </p:nvSpPr>
        <p:spPr>
          <a:xfrm>
            <a:off x="4892040" y="3429000"/>
            <a:ext cx="3566160"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Some combined vendor-risk questions are rejected by /api/ask.</a:t>
            </a:r>
            <a:endParaRPr lang="en-US" sz="1400" dirty="0"/>
          </a:p>
        </p:txBody>
      </p:sp>
      <p:sp>
        <p:nvSpPr>
          <p:cNvPr id="23" name="Text 21"/>
          <p:cNvSpPr txBox="1"/>
          <p:nvPr/>
        </p:nvSpPr>
        <p:spPr>
          <a:xfrm>
            <a:off x="457200" y="4434840"/>
            <a:ext cx="7772400" cy="27432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Observations from results obtained so far.</a:t>
            </a:r>
            <a:endParaRPr lang="en-US" sz="11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Business impact</a:t>
            </a:r>
            <a:endParaRPr lang="en-US" sz="3200" dirty="0"/>
          </a:p>
        </p:txBody>
      </p:sp>
      <p:sp>
        <p:nvSpPr>
          <p:cNvPr id="3" name="Shape 1"/>
          <p:cNvSpPr/>
          <p:nvPr/>
        </p:nvSpPr>
        <p:spPr>
          <a:xfrm>
            <a:off x="457200" y="1097280"/>
            <a:ext cx="4114800" cy="914400"/>
          </a:xfrm>
          <a:prstGeom prst="roundRect">
            <a:avLst>
              <a:gd name="adj" fmla="val 8000"/>
            </a:avLst>
          </a:prstGeom>
          <a:solidFill>
            <a:schemeClr val="bg2"/>
          </a:solidFill>
          <a:ln/>
        </p:spPr>
      </p:sp>
      <p:sp>
        <p:nvSpPr>
          <p:cNvPr id="4" name="Shape 2"/>
          <p:cNvSpPr/>
          <p:nvPr/>
        </p:nvSpPr>
        <p:spPr>
          <a:xfrm>
            <a:off x="640080" y="1280160"/>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77240" y="1417320"/>
            <a:ext cx="274320" cy="274320"/>
          </a:xfrm>
          <a:prstGeom prst="rect">
            <a:avLst/>
          </a:prstGeom>
        </p:spPr>
      </p:pic>
      <p:sp>
        <p:nvSpPr>
          <p:cNvPr id="6" name="Text 3"/>
          <p:cNvSpPr txBox="1"/>
          <p:nvPr/>
        </p:nvSpPr>
        <p:spPr>
          <a:xfrm>
            <a:off x="1371600" y="1188720"/>
            <a:ext cx="310896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Time efficiency</a:t>
            </a:r>
            <a:endParaRPr lang="en-US" sz="1500" dirty="0"/>
          </a:p>
        </p:txBody>
      </p:sp>
      <p:sp>
        <p:nvSpPr>
          <p:cNvPr id="7" name="Text 4"/>
          <p:cNvSpPr txBox="1"/>
          <p:nvPr/>
        </p:nvSpPr>
        <p:spPr>
          <a:xfrm>
            <a:off x="1371600" y="1508760"/>
            <a:ext cx="31089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Less time collecting information from separate systems</a:t>
            </a:r>
            <a:endParaRPr lang="en-US" sz="1300" dirty="0"/>
          </a:p>
        </p:txBody>
      </p:sp>
      <p:sp>
        <p:nvSpPr>
          <p:cNvPr id="8" name="Shape 5"/>
          <p:cNvSpPr/>
          <p:nvPr/>
        </p:nvSpPr>
        <p:spPr>
          <a:xfrm>
            <a:off x="457200" y="2121408"/>
            <a:ext cx="4114800" cy="914400"/>
          </a:xfrm>
          <a:prstGeom prst="roundRect">
            <a:avLst>
              <a:gd name="adj" fmla="val 8000"/>
            </a:avLst>
          </a:prstGeom>
          <a:solidFill>
            <a:schemeClr val="bg2"/>
          </a:solidFill>
          <a:ln/>
        </p:spPr>
      </p:sp>
      <p:sp>
        <p:nvSpPr>
          <p:cNvPr id="9" name="Shape 6"/>
          <p:cNvSpPr/>
          <p:nvPr/>
        </p:nvSpPr>
        <p:spPr>
          <a:xfrm>
            <a:off x="640080" y="2304288"/>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777240" y="2441448"/>
            <a:ext cx="274320" cy="274320"/>
          </a:xfrm>
          <a:prstGeom prst="rect">
            <a:avLst/>
          </a:prstGeom>
        </p:spPr>
      </p:pic>
      <p:sp>
        <p:nvSpPr>
          <p:cNvPr id="11" name="Text 7"/>
          <p:cNvSpPr txBox="1"/>
          <p:nvPr/>
        </p:nvSpPr>
        <p:spPr>
          <a:xfrm>
            <a:off x="1371600" y="2212848"/>
            <a:ext cx="310896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Compliance visibility</a:t>
            </a:r>
            <a:endParaRPr lang="en-US" sz="1500" dirty="0"/>
          </a:p>
        </p:txBody>
      </p:sp>
      <p:sp>
        <p:nvSpPr>
          <p:cNvPr id="12" name="Text 8"/>
          <p:cNvSpPr txBox="1"/>
          <p:nvPr/>
        </p:nvSpPr>
        <p:spPr>
          <a:xfrm>
            <a:off x="1371600" y="2532888"/>
            <a:ext cx="31089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Missing or unresolved checks surface before payment</a:t>
            </a:r>
            <a:endParaRPr lang="en-US" sz="1300" dirty="0"/>
          </a:p>
        </p:txBody>
      </p:sp>
      <p:sp>
        <p:nvSpPr>
          <p:cNvPr id="13" name="Shape 9"/>
          <p:cNvSpPr/>
          <p:nvPr/>
        </p:nvSpPr>
        <p:spPr>
          <a:xfrm>
            <a:off x="457200" y="3145536"/>
            <a:ext cx="4114800" cy="914400"/>
          </a:xfrm>
          <a:prstGeom prst="roundRect">
            <a:avLst>
              <a:gd name="adj" fmla="val 8000"/>
            </a:avLst>
          </a:prstGeom>
          <a:solidFill>
            <a:schemeClr val="bg2"/>
          </a:solidFill>
          <a:ln/>
        </p:spPr>
      </p:sp>
      <p:sp>
        <p:nvSpPr>
          <p:cNvPr id="14" name="Shape 10"/>
          <p:cNvSpPr/>
          <p:nvPr/>
        </p:nvSpPr>
        <p:spPr>
          <a:xfrm>
            <a:off x="640080" y="3328416"/>
            <a:ext cx="548640" cy="54864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777240" y="3465576"/>
            <a:ext cx="274320" cy="274320"/>
          </a:xfrm>
          <a:prstGeom prst="rect">
            <a:avLst/>
          </a:prstGeom>
        </p:spPr>
      </p:pic>
      <p:sp>
        <p:nvSpPr>
          <p:cNvPr id="16" name="Text 11"/>
          <p:cNvSpPr txBox="1"/>
          <p:nvPr/>
        </p:nvSpPr>
        <p:spPr>
          <a:xfrm>
            <a:off x="1371600" y="3236976"/>
            <a:ext cx="3108960" cy="3200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Audit readiness</a:t>
            </a:r>
            <a:endParaRPr lang="en-US" sz="1500" dirty="0"/>
          </a:p>
        </p:txBody>
      </p:sp>
      <p:sp>
        <p:nvSpPr>
          <p:cNvPr id="17" name="Text 12"/>
          <p:cNvSpPr txBox="1"/>
          <p:nvPr/>
        </p:nvSpPr>
        <p:spPr>
          <a:xfrm>
            <a:off x="1371600" y="3557016"/>
            <a:ext cx="310896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Easier to assemble the evidence used in a review</a:t>
            </a:r>
            <a:endParaRPr lang="en-US" sz="1300" dirty="0"/>
          </a:p>
        </p:txBody>
      </p:sp>
      <p:sp>
        <p:nvSpPr>
          <p:cNvPr id="18" name="Shape 13"/>
          <p:cNvSpPr/>
          <p:nvPr/>
        </p:nvSpPr>
        <p:spPr>
          <a:xfrm>
            <a:off x="4800600" y="1097280"/>
            <a:ext cx="3886200" cy="2971800"/>
          </a:xfrm>
          <a:prstGeom prst="roundRect">
            <a:avLst>
              <a:gd name="adj" fmla="val 2462"/>
            </a:avLst>
          </a:prstGeom>
          <a:solidFill>
            <a:schemeClr val="tx2"/>
          </a:solidFill>
          <a:ln/>
        </p:spPr>
      </p:sp>
      <p:sp>
        <p:nvSpPr>
          <p:cNvPr id="19" name="Text 14"/>
          <p:cNvSpPr txBox="1"/>
          <p:nvPr/>
        </p:nvSpPr>
        <p:spPr>
          <a:xfrm>
            <a:off x="5029200" y="1234440"/>
            <a:ext cx="347472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MEASURE WITH A PILOT</a:t>
            </a:r>
            <a:endParaRPr lang="en-US" sz="1200" dirty="0"/>
          </a:p>
        </p:txBody>
      </p:sp>
      <p:sp>
        <p:nvSpPr>
          <p:cNvPr id="20" name="Text 15"/>
          <p:cNvSpPr txBox="1"/>
          <p:nvPr/>
        </p:nvSpPr>
        <p:spPr>
          <a:xfrm>
            <a:off x="5029200" y="1600200"/>
            <a:ext cx="3474720" cy="23774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Review time per vendor, before vs. after</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Manual platform switches per review</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Missing checks caught before approval</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Rate of failed or incomplete API checks</a:t>
            </a:r>
            <a:endParaRPr lang="en-US" sz="1400" dirty="0"/>
          </a:p>
          <a:p>
            <a:pPr marL="342900" indent="-342900">
              <a:spcAft>
                <a:spcPts val="500"/>
              </a:spcAft>
              <a:buSzPct val="100000"/>
              <a:buChar char="•"/>
            </a:pPr>
            <a:r>
              <a:rPr lang="en-US" sz="1400" dirty="0">
                <a:solidFill>
                  <a:schemeClr val="bg1"/>
                </a:solidFill>
                <a:latin typeface="Calibri" pitchFamily="34" charset="0"/>
                <a:ea typeface="Calibri" pitchFamily="34" charset="-122"/>
                <a:cs typeface="Calibri" pitchFamily="34" charset="-120"/>
              </a:rPr>
              <a:t>Time to assemble an audit report</a:t>
            </a:r>
            <a:endParaRPr lang="en-US" sz="1400" dirty="0"/>
          </a:p>
        </p:txBody>
      </p:sp>
      <p:sp>
        <p:nvSpPr>
          <p:cNvPr id="21" name="Text 16"/>
          <p:cNvSpPr txBox="1"/>
          <p:nvPr/>
        </p:nvSpPr>
        <p:spPr>
          <a:xfrm>
            <a:off x="457200" y="4251960"/>
            <a:ext cx="7772400" cy="365760"/>
          </a:xfrm>
          <a:prstGeom prst="rect">
            <a:avLst/>
          </a:prstGeom>
          <a:noFill/>
          <a:ln/>
        </p:spPr>
        <p:txBody>
          <a:bodyPr wrap="square" lIns="0" tIns="0" rIns="0" bIns="0" rtlCol="0" anchor="t"/>
          <a:lstStyle/>
          <a:p>
            <a:pPr indent="0" marL="0">
              <a:buNone/>
            </a:pPr>
            <a:r>
              <a:rPr lang="en-US" sz="1300" i="1" dirty="0">
                <a:solidFill>
                  <a:schemeClr val="accent5"/>
                </a:solidFill>
                <a:latin typeface="Calibri" pitchFamily="34" charset="0"/>
                <a:ea typeface="Calibri" pitchFamily="34" charset="-122"/>
                <a:cs typeface="Calibri" pitchFamily="34" charset="-120"/>
              </a:rPr>
              <a:t>Avoid claiming specific cost savings or percentages until these measurements are collected.</a:t>
            </a:r>
            <a:endParaRPr lang="en-US" sz="13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Why companies should use it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840480"/>
                <a:gridCol w="4389120"/>
              </a:tblGrid>
              <a:tr h="384048">
                <a:tc>
                  <a:txBody>
                    <a:bodyPr/>
                    <a:lstStyle/>
                    <a:p>
                      <a:pPr indent="0" marL="0">
                        <a:buNone/>
                      </a:pPr>
                      <a:r>
                        <a:rPr lang="en-US" sz="1300" b="1" dirty="0">
                          <a:solidFill>
                            <a:schemeClr val="bg1"/>
                          </a:solidFill>
                        </a:rPr>
                        <a:t>Existing approach</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SENTINELPAY's intended benefit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tx2"/>
                    </a:solidFill>
                  </a:tcPr>
                </a:tc>
              </a:tr>
              <a:tr h="384048">
                <a:tc>
                  <a:txBody>
                    <a:bodyPr/>
                    <a:lstStyle/>
                    <a:p>
                      <a:pPr indent="0" marL="0">
                        <a:buNone/>
                      </a:pPr>
                      <a:r>
                        <a:rPr lang="en-US" sz="1300" dirty="0">
                          <a:solidFill>
                            <a:schemeClr val="tx1"/>
                          </a:solidFill>
                        </a:rPr>
                        <a:t>Manually checking separate platforms</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2"/>
                          </a:solidFill>
                        </a:rPr>
                        <a:t>Brings relevant results into one workflow</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dirty="0">
                          <a:solidFill>
                            <a:schemeClr val="tx1"/>
                          </a:solidFill>
                        </a:rPr>
                        <a:t>A chatbot that only generates text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2"/>
                          </a:solidFill>
                        </a:rPr>
                        <a:t>Calls tools to retrieve actual system data</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dirty="0">
                          <a:solidFill>
                            <a:schemeClr val="tx1"/>
                          </a:solidFill>
                        </a:rPr>
                        <a:t>A wallet-only integration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2"/>
                          </a:solidFill>
                        </a:rPr>
                        <a:t>Adds tax and contract verification context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dirty="0">
                          <a:solidFill>
                            <a:schemeClr val="tx1"/>
                          </a:solidFill>
                        </a:rPr>
                        <a:t>A contract-only integration</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2"/>
                          </a:solidFill>
                        </a:rPr>
                        <a:t>Adds payment-related context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dirty="0">
                          <a:solidFill>
                            <a:schemeClr val="tx1"/>
                          </a:solidFill>
                        </a:rPr>
                        <a:t>Informal manual review</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2"/>
                          </a:solidFill>
                        </a:rPr>
                        <a:t>Produces a consistent, structured report</a:t>
                      </a:r>
                      <a:endParaRPr lang="en-US" sz="1300" dirty="0"/>
                    </a:p>
                  </a:txBody>
                  <a:tcPr marL="91440" marR="9144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Shape 1"/>
          <p:cNvSpPr/>
          <p:nvPr/>
        </p:nvSpPr>
        <p:spPr>
          <a:xfrm>
            <a:off x="457200" y="3611880"/>
            <a:ext cx="8229600" cy="868680"/>
          </a:xfrm>
          <a:prstGeom prst="roundRect">
            <a:avLst>
              <a:gd name="adj" fmla="val 8421"/>
            </a:avLst>
          </a:prstGeom>
          <a:solidFill>
            <a:schemeClr val="tx2"/>
          </a:solidFill>
          <a:ln/>
        </p:spPr>
      </p:sp>
      <p:sp>
        <p:nvSpPr>
          <p:cNvPr id="5" name="Text 2"/>
          <p:cNvSpPr txBox="1"/>
          <p:nvPr/>
        </p:nvSpPr>
        <p:spPr>
          <a:xfrm>
            <a:off x="685800" y="3611880"/>
            <a:ext cx="7772400" cy="86868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Differentiator: </a:t>
            </a:r>
            <a:pPr indent="0" marL="0">
              <a:buNone/>
            </a:pPr>
            <a:r>
              <a:rPr lang="en-US" sz="1400" dirty="0">
                <a:solidFill>
                  <a:schemeClr val="bg1"/>
                </a:solidFill>
                <a:latin typeface="Calibri" pitchFamily="34" charset="0"/>
                <a:ea typeface="Calibri" pitchFamily="34" charset="-122"/>
                <a:cs typeface="Calibri" pitchFamily="34" charset="-120"/>
              </a:rPr>
              <a:t>the combination of integrations, evidence-based assessment, explicit handling of failed checks, and human-review safeguards, not MCP alone.</a:t>
            </a:r>
            <a:endParaRPr lang="en-US" sz="1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Target customers</a:t>
            </a:r>
            <a:endParaRPr lang="en-US" sz="3200" dirty="0"/>
          </a:p>
        </p:txBody>
      </p:sp>
      <p:sp>
        <p:nvSpPr>
          <p:cNvPr id="3" name="Shape 1"/>
          <p:cNvSpPr/>
          <p:nvPr/>
        </p:nvSpPr>
        <p:spPr>
          <a:xfrm>
            <a:off x="457200" y="1097280"/>
            <a:ext cx="8229600" cy="475488"/>
          </a:xfrm>
          <a:prstGeom prst="roundRect">
            <a:avLst>
              <a:gd name="adj" fmla="val 15385"/>
            </a:avLst>
          </a:prstGeom>
          <a:solidFill>
            <a:schemeClr val="bg2"/>
          </a:solidFill>
          <a:ln/>
        </p:spPr>
      </p:sp>
      <p:sp>
        <p:nvSpPr>
          <p:cNvPr id="4" name="Shape 2"/>
          <p:cNvSpPr/>
          <p:nvPr/>
        </p:nvSpPr>
        <p:spPr>
          <a:xfrm>
            <a:off x="548640" y="1152144"/>
            <a:ext cx="365760" cy="36576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40080" y="1243584"/>
            <a:ext cx="182880" cy="182880"/>
          </a:xfrm>
          <a:prstGeom prst="rect">
            <a:avLst/>
          </a:prstGeom>
        </p:spPr>
      </p:pic>
      <p:sp>
        <p:nvSpPr>
          <p:cNvPr id="6" name="Text 3"/>
          <p:cNvSpPr txBox="1"/>
          <p:nvPr/>
        </p:nvSpPr>
        <p:spPr>
          <a:xfrm>
            <a:off x="1097280" y="1097280"/>
            <a:ext cx="2377440" cy="475488"/>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Accounts payable</a:t>
            </a:r>
            <a:endParaRPr lang="en-US" sz="1400" dirty="0"/>
          </a:p>
        </p:txBody>
      </p:sp>
      <p:sp>
        <p:nvSpPr>
          <p:cNvPr id="7" name="Text 4"/>
          <p:cNvSpPr txBox="1"/>
          <p:nvPr/>
        </p:nvSpPr>
        <p:spPr>
          <a:xfrm>
            <a:off x="3474720" y="1097280"/>
            <a:ext cx="5120640" cy="47548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Review vendors before payment batches</a:t>
            </a:r>
            <a:endParaRPr lang="en-US" sz="1400" dirty="0"/>
          </a:p>
        </p:txBody>
      </p:sp>
      <p:sp>
        <p:nvSpPr>
          <p:cNvPr id="8" name="Shape 5"/>
          <p:cNvSpPr/>
          <p:nvPr/>
        </p:nvSpPr>
        <p:spPr>
          <a:xfrm>
            <a:off x="457200" y="1645920"/>
            <a:ext cx="8229600" cy="475488"/>
          </a:xfrm>
          <a:prstGeom prst="roundRect">
            <a:avLst>
              <a:gd name="adj" fmla="val 15385"/>
            </a:avLst>
          </a:prstGeom>
          <a:solidFill>
            <a:schemeClr val="bg2"/>
          </a:solidFill>
          <a:ln/>
        </p:spPr>
      </p:sp>
      <p:sp>
        <p:nvSpPr>
          <p:cNvPr id="9" name="Shape 6"/>
          <p:cNvSpPr/>
          <p:nvPr/>
        </p:nvSpPr>
        <p:spPr>
          <a:xfrm>
            <a:off x="548640" y="1700784"/>
            <a:ext cx="365760" cy="36576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640080" y="1792224"/>
            <a:ext cx="182880" cy="182880"/>
          </a:xfrm>
          <a:prstGeom prst="rect">
            <a:avLst/>
          </a:prstGeom>
        </p:spPr>
      </p:pic>
      <p:sp>
        <p:nvSpPr>
          <p:cNvPr id="11" name="Text 7"/>
          <p:cNvSpPr txBox="1"/>
          <p:nvPr/>
        </p:nvSpPr>
        <p:spPr>
          <a:xfrm>
            <a:off x="1097280" y="1645920"/>
            <a:ext cx="2377440" cy="475488"/>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Finance managers</a:t>
            </a:r>
            <a:endParaRPr lang="en-US" sz="1400" dirty="0"/>
          </a:p>
        </p:txBody>
      </p:sp>
      <p:sp>
        <p:nvSpPr>
          <p:cNvPr id="12" name="Text 8"/>
          <p:cNvSpPr txBox="1"/>
          <p:nvPr/>
        </p:nvSpPr>
        <p:spPr>
          <a:xfrm>
            <a:off x="3474720" y="1645920"/>
            <a:ext cx="5120640" cy="47548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Prioritize exceptions needing review</a:t>
            </a:r>
            <a:endParaRPr lang="en-US" sz="1400" dirty="0"/>
          </a:p>
        </p:txBody>
      </p:sp>
      <p:sp>
        <p:nvSpPr>
          <p:cNvPr id="13" name="Shape 9"/>
          <p:cNvSpPr/>
          <p:nvPr/>
        </p:nvSpPr>
        <p:spPr>
          <a:xfrm>
            <a:off x="457200" y="2194560"/>
            <a:ext cx="8229600" cy="475488"/>
          </a:xfrm>
          <a:prstGeom prst="roundRect">
            <a:avLst>
              <a:gd name="adj" fmla="val 15385"/>
            </a:avLst>
          </a:prstGeom>
          <a:solidFill>
            <a:schemeClr val="bg2"/>
          </a:solidFill>
          <a:ln/>
        </p:spPr>
      </p:sp>
      <p:sp>
        <p:nvSpPr>
          <p:cNvPr id="14" name="Shape 10"/>
          <p:cNvSpPr/>
          <p:nvPr/>
        </p:nvSpPr>
        <p:spPr>
          <a:xfrm>
            <a:off x="548640" y="2249424"/>
            <a:ext cx="365760" cy="36576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40080" y="2340864"/>
            <a:ext cx="182880" cy="182880"/>
          </a:xfrm>
          <a:prstGeom prst="rect">
            <a:avLst/>
          </a:prstGeom>
        </p:spPr>
      </p:pic>
      <p:sp>
        <p:nvSpPr>
          <p:cNvPr id="16" name="Text 11"/>
          <p:cNvSpPr txBox="1"/>
          <p:nvPr/>
        </p:nvSpPr>
        <p:spPr>
          <a:xfrm>
            <a:off x="1097280" y="2194560"/>
            <a:ext cx="2377440" cy="475488"/>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Compliance teams</a:t>
            </a:r>
            <a:endParaRPr lang="en-US" sz="1400" dirty="0"/>
          </a:p>
        </p:txBody>
      </p:sp>
      <p:sp>
        <p:nvSpPr>
          <p:cNvPr id="17" name="Text 12"/>
          <p:cNvSpPr txBox="1"/>
          <p:nvPr/>
        </p:nvSpPr>
        <p:spPr>
          <a:xfrm>
            <a:off x="3474720" y="2194560"/>
            <a:ext cx="5120640" cy="47548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Find missing evidence and incomplete verification</a:t>
            </a:r>
            <a:endParaRPr lang="en-US" sz="1400" dirty="0"/>
          </a:p>
        </p:txBody>
      </p:sp>
      <p:sp>
        <p:nvSpPr>
          <p:cNvPr id="18" name="Shape 13"/>
          <p:cNvSpPr/>
          <p:nvPr/>
        </p:nvSpPr>
        <p:spPr>
          <a:xfrm>
            <a:off x="457200" y="2743200"/>
            <a:ext cx="8229600" cy="475488"/>
          </a:xfrm>
          <a:prstGeom prst="roundRect">
            <a:avLst>
              <a:gd name="adj" fmla="val 15385"/>
            </a:avLst>
          </a:prstGeom>
          <a:solidFill>
            <a:schemeClr val="bg2"/>
          </a:solidFill>
          <a:ln/>
        </p:spPr>
      </p:sp>
      <p:sp>
        <p:nvSpPr>
          <p:cNvPr id="19" name="Shape 14"/>
          <p:cNvSpPr/>
          <p:nvPr/>
        </p:nvSpPr>
        <p:spPr>
          <a:xfrm>
            <a:off x="548640" y="2798064"/>
            <a:ext cx="365760" cy="36576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640080" y="2889504"/>
            <a:ext cx="182880" cy="182880"/>
          </a:xfrm>
          <a:prstGeom prst="rect">
            <a:avLst/>
          </a:prstGeom>
        </p:spPr>
      </p:pic>
      <p:sp>
        <p:nvSpPr>
          <p:cNvPr id="21" name="Text 15"/>
          <p:cNvSpPr txBox="1"/>
          <p:nvPr/>
        </p:nvSpPr>
        <p:spPr>
          <a:xfrm>
            <a:off x="1097280" y="2743200"/>
            <a:ext cx="2377440" cy="475488"/>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Procurement teams</a:t>
            </a:r>
            <a:endParaRPr lang="en-US" sz="1400" dirty="0"/>
          </a:p>
        </p:txBody>
      </p:sp>
      <p:sp>
        <p:nvSpPr>
          <p:cNvPr id="22" name="Text 16"/>
          <p:cNvSpPr txBox="1"/>
          <p:nvPr/>
        </p:nvSpPr>
        <p:spPr>
          <a:xfrm>
            <a:off x="3474720" y="2743200"/>
            <a:ext cx="5120640" cy="47548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Track agreement and documentation status</a:t>
            </a:r>
            <a:endParaRPr lang="en-US" sz="1400" dirty="0"/>
          </a:p>
        </p:txBody>
      </p:sp>
      <p:sp>
        <p:nvSpPr>
          <p:cNvPr id="23" name="Shape 17"/>
          <p:cNvSpPr/>
          <p:nvPr/>
        </p:nvSpPr>
        <p:spPr>
          <a:xfrm>
            <a:off x="457200" y="3291840"/>
            <a:ext cx="8229600" cy="475488"/>
          </a:xfrm>
          <a:prstGeom prst="roundRect">
            <a:avLst>
              <a:gd name="adj" fmla="val 15385"/>
            </a:avLst>
          </a:prstGeom>
          <a:solidFill>
            <a:schemeClr val="bg2"/>
          </a:solidFill>
          <a:ln/>
        </p:spPr>
      </p:sp>
      <p:sp>
        <p:nvSpPr>
          <p:cNvPr id="24" name="Shape 18"/>
          <p:cNvSpPr/>
          <p:nvPr/>
        </p:nvSpPr>
        <p:spPr>
          <a:xfrm>
            <a:off x="548640" y="3346704"/>
            <a:ext cx="365760" cy="36576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640080" y="3438144"/>
            <a:ext cx="182880" cy="182880"/>
          </a:xfrm>
          <a:prstGeom prst="rect">
            <a:avLst/>
          </a:prstGeom>
        </p:spPr>
      </p:pic>
      <p:sp>
        <p:nvSpPr>
          <p:cNvPr id="26" name="Text 19"/>
          <p:cNvSpPr txBox="1"/>
          <p:nvPr/>
        </p:nvSpPr>
        <p:spPr>
          <a:xfrm>
            <a:off x="1097280" y="3291840"/>
            <a:ext cx="2377440" cy="475488"/>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Fintech &amp; payment ops</a:t>
            </a:r>
            <a:endParaRPr lang="en-US" sz="1400" dirty="0"/>
          </a:p>
        </p:txBody>
      </p:sp>
      <p:sp>
        <p:nvSpPr>
          <p:cNvPr id="27" name="Text 20"/>
          <p:cNvSpPr txBox="1"/>
          <p:nvPr/>
        </p:nvSpPr>
        <p:spPr>
          <a:xfrm>
            <a:off x="3474720" y="3291840"/>
            <a:ext cx="5120640" cy="475488"/>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Embed vendor checks in internal workflows</a:t>
            </a:r>
            <a:endParaRPr lang="en-US" sz="1400" dirty="0"/>
          </a:p>
        </p:txBody>
      </p:sp>
      <p:sp>
        <p:nvSpPr>
          <p:cNvPr id="28" name="Shape 21"/>
          <p:cNvSpPr/>
          <p:nvPr/>
        </p:nvSpPr>
        <p:spPr>
          <a:xfrm>
            <a:off x="457200" y="3931920"/>
            <a:ext cx="8229600" cy="685800"/>
          </a:xfrm>
          <a:prstGeom prst="roundRect">
            <a:avLst>
              <a:gd name="adj" fmla="val 10667"/>
            </a:avLst>
          </a:prstGeom>
          <a:solidFill>
            <a:schemeClr val="tx2"/>
          </a:solidFill>
          <a:ln/>
        </p:spPr>
      </p:sp>
      <p:sp>
        <p:nvSpPr>
          <p:cNvPr id="29" name="Text 22"/>
          <p:cNvSpPr txBox="1"/>
          <p:nvPr/>
        </p:nvSpPr>
        <p:spPr>
          <a:xfrm>
            <a:off x="685800" y="3931920"/>
            <a:ext cx="7772400" cy="685800"/>
          </a:xfrm>
          <a:prstGeom prst="rect">
            <a:avLst/>
          </a:prstGeom>
          <a:noFill/>
          <a:ln/>
        </p:spPr>
        <p:txBody>
          <a:bodyPr wrap="square" lIns="0" tIns="0" rIns="0" bIns="0" rtlCol="0" anchor="ctr"/>
          <a:lstStyle/>
          <a:p>
            <a:pPr indent="0" marL="0">
              <a:buNone/>
            </a:pPr>
            <a:r>
              <a:rPr lang="en-US" sz="1500" dirty="0">
                <a:solidFill>
                  <a:schemeClr val="bg1"/>
                </a:solidFill>
                <a:latin typeface="Calibri" pitchFamily="34" charset="0"/>
                <a:ea typeface="Calibri" pitchFamily="34" charset="-122"/>
                <a:cs typeface="Calibri" pitchFamily="34" charset="-120"/>
              </a:rPr>
              <a:t>Strongest initial market: organizations that repeatedly verify vendor information across multiple systems.</a:t>
            </a:r>
            <a:endParaRPr lang="en-US" sz="15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Business model</a:t>
            </a:r>
            <a:endParaRPr lang="en-US" sz="3200" dirty="0"/>
          </a:p>
        </p:txBody>
      </p:sp>
      <p:sp>
        <p:nvSpPr>
          <p:cNvPr id="3" name="Shape 1"/>
          <p:cNvSpPr/>
          <p:nvPr/>
        </p:nvSpPr>
        <p:spPr>
          <a:xfrm>
            <a:off x="457200" y="1097280"/>
            <a:ext cx="4023360" cy="1188720"/>
          </a:xfrm>
          <a:prstGeom prst="roundRect">
            <a:avLst>
              <a:gd name="adj" fmla="val 6154"/>
            </a:avLst>
          </a:prstGeom>
          <a:solidFill>
            <a:schemeClr val="bg2"/>
          </a:solidFill>
          <a:ln/>
        </p:spPr>
      </p:sp>
      <p:sp>
        <p:nvSpPr>
          <p:cNvPr id="4" name="Text 2"/>
          <p:cNvSpPr txBox="1"/>
          <p:nvPr/>
        </p:nvSpPr>
        <p:spPr>
          <a:xfrm>
            <a:off x="685800" y="1280160"/>
            <a:ext cx="3566160" cy="36576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Subscription</a:t>
            </a:r>
            <a:endParaRPr lang="en-US" sz="1800" dirty="0"/>
          </a:p>
        </p:txBody>
      </p:sp>
      <p:sp>
        <p:nvSpPr>
          <p:cNvPr id="5" name="Text 3"/>
          <p:cNvSpPr txBox="1"/>
          <p:nvPr/>
        </p:nvSpPr>
        <p:spPr>
          <a:xfrm>
            <a:off x="685800" y="1737360"/>
            <a:ext cx="35661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Priced on monthly vendor assessments</a:t>
            </a:r>
            <a:endParaRPr lang="en-US" sz="1400" dirty="0"/>
          </a:p>
        </p:txBody>
      </p:sp>
      <p:sp>
        <p:nvSpPr>
          <p:cNvPr id="6" name="Shape 4"/>
          <p:cNvSpPr/>
          <p:nvPr/>
        </p:nvSpPr>
        <p:spPr>
          <a:xfrm>
            <a:off x="4663440" y="1097280"/>
            <a:ext cx="4023360" cy="1188720"/>
          </a:xfrm>
          <a:prstGeom prst="roundRect">
            <a:avLst>
              <a:gd name="adj" fmla="val 6154"/>
            </a:avLst>
          </a:prstGeom>
          <a:solidFill>
            <a:schemeClr val="bg2"/>
          </a:solidFill>
          <a:ln/>
        </p:spPr>
      </p:sp>
      <p:sp>
        <p:nvSpPr>
          <p:cNvPr id="7" name="Text 5"/>
          <p:cNvSpPr txBox="1"/>
          <p:nvPr/>
        </p:nvSpPr>
        <p:spPr>
          <a:xfrm>
            <a:off x="4892040" y="1280160"/>
            <a:ext cx="3566160" cy="36576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Per-integration pricing</a:t>
            </a:r>
            <a:endParaRPr lang="en-US" sz="1800" dirty="0"/>
          </a:p>
        </p:txBody>
      </p:sp>
      <p:sp>
        <p:nvSpPr>
          <p:cNvPr id="8" name="Text 6"/>
          <p:cNvSpPr txBox="1"/>
          <p:nvPr/>
        </p:nvSpPr>
        <p:spPr>
          <a:xfrm>
            <a:off x="4892040" y="1737360"/>
            <a:ext cx="35661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Based on the number of connected integrations</a:t>
            </a:r>
            <a:endParaRPr lang="en-US" sz="1400" dirty="0"/>
          </a:p>
        </p:txBody>
      </p:sp>
      <p:sp>
        <p:nvSpPr>
          <p:cNvPr id="9" name="Shape 7"/>
          <p:cNvSpPr/>
          <p:nvPr/>
        </p:nvSpPr>
        <p:spPr>
          <a:xfrm>
            <a:off x="457200" y="2423160"/>
            <a:ext cx="4023360" cy="1188720"/>
          </a:xfrm>
          <a:prstGeom prst="roundRect">
            <a:avLst>
              <a:gd name="adj" fmla="val 6154"/>
            </a:avLst>
          </a:prstGeom>
          <a:solidFill>
            <a:schemeClr val="bg2"/>
          </a:solidFill>
          <a:ln/>
        </p:spPr>
      </p:sp>
      <p:sp>
        <p:nvSpPr>
          <p:cNvPr id="10" name="Text 8"/>
          <p:cNvSpPr txBox="1"/>
          <p:nvPr/>
        </p:nvSpPr>
        <p:spPr>
          <a:xfrm>
            <a:off x="685800" y="2606040"/>
            <a:ext cx="3566160" cy="36576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Enterprise deployment</a:t>
            </a:r>
            <a:endParaRPr lang="en-US" sz="1800" dirty="0"/>
          </a:p>
        </p:txBody>
      </p:sp>
      <p:sp>
        <p:nvSpPr>
          <p:cNvPr id="11" name="Text 9"/>
          <p:cNvSpPr txBox="1"/>
          <p:nvPr/>
        </p:nvSpPr>
        <p:spPr>
          <a:xfrm>
            <a:off x="685800" y="3063240"/>
            <a:ext cx="35661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Organization-specific policies and reports</a:t>
            </a:r>
            <a:endParaRPr lang="en-US" sz="1400" dirty="0"/>
          </a:p>
        </p:txBody>
      </p:sp>
      <p:sp>
        <p:nvSpPr>
          <p:cNvPr id="12" name="Shape 10"/>
          <p:cNvSpPr/>
          <p:nvPr/>
        </p:nvSpPr>
        <p:spPr>
          <a:xfrm>
            <a:off x="4663440" y="2423160"/>
            <a:ext cx="4023360" cy="1188720"/>
          </a:xfrm>
          <a:prstGeom prst="roundRect">
            <a:avLst>
              <a:gd name="adj" fmla="val 6154"/>
            </a:avLst>
          </a:prstGeom>
          <a:solidFill>
            <a:schemeClr val="bg2"/>
          </a:solidFill>
          <a:ln/>
        </p:spPr>
      </p:sp>
      <p:sp>
        <p:nvSpPr>
          <p:cNvPr id="13" name="Text 11"/>
          <p:cNvSpPr txBox="1"/>
          <p:nvPr/>
        </p:nvSpPr>
        <p:spPr>
          <a:xfrm>
            <a:off x="4892040" y="2606040"/>
            <a:ext cx="3566160" cy="365760"/>
          </a:xfrm>
          <a:prstGeom prst="rect">
            <a:avLst/>
          </a:prstGeom>
          <a:noFill/>
          <a:ln/>
        </p:spPr>
        <p:txBody>
          <a:bodyPr wrap="square" lIns="0" tIns="0" rIns="0" bIns="0" rtlCol="0" anchor="t"/>
          <a:lstStyle/>
          <a:p>
            <a:pPr indent="0" marL="0">
              <a:buNone/>
            </a:pPr>
            <a:r>
              <a:rPr lang="en-US" sz="1800" b="1" dirty="0">
                <a:solidFill>
                  <a:schemeClr val="accent4"/>
                </a:solidFill>
                <a:latin typeface="Cambria" pitchFamily="34" charset="0"/>
                <a:ea typeface="Cambria" pitchFamily="34" charset="-122"/>
                <a:cs typeface="Cambria" pitchFamily="34" charset="-120"/>
              </a:rPr>
              <a:t>Services</a:t>
            </a:r>
            <a:endParaRPr lang="en-US" sz="1800" dirty="0"/>
          </a:p>
        </p:txBody>
      </p:sp>
      <p:sp>
        <p:nvSpPr>
          <p:cNvPr id="14" name="Text 12"/>
          <p:cNvSpPr txBox="1"/>
          <p:nvPr/>
        </p:nvSpPr>
        <p:spPr>
          <a:xfrm>
            <a:off x="4892040" y="3063240"/>
            <a:ext cx="3566160" cy="4572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Paid integration and support</a:t>
            </a:r>
            <a:endParaRPr lang="en-US" sz="1400" dirty="0"/>
          </a:p>
        </p:txBody>
      </p:sp>
      <p:sp>
        <p:nvSpPr>
          <p:cNvPr id="15" name="Shape 13"/>
          <p:cNvSpPr/>
          <p:nvPr/>
        </p:nvSpPr>
        <p:spPr>
          <a:xfrm>
            <a:off x="457200" y="3794760"/>
            <a:ext cx="8229600" cy="868680"/>
          </a:xfrm>
          <a:prstGeom prst="roundRect">
            <a:avLst>
              <a:gd name="adj" fmla="val 8421"/>
            </a:avLst>
          </a:prstGeom>
          <a:solidFill>
            <a:schemeClr val="tx2"/>
          </a:solidFill>
          <a:ln/>
        </p:spPr>
      </p:sp>
      <p:sp>
        <p:nvSpPr>
          <p:cNvPr id="16" name="Text 14"/>
          <p:cNvSpPr txBox="1"/>
          <p:nvPr/>
        </p:nvSpPr>
        <p:spPr>
          <a:xfrm>
            <a:off x="685800" y="3794760"/>
            <a:ext cx="7772400" cy="868680"/>
          </a:xfrm>
          <a:prstGeom prst="rect">
            <a:avLst/>
          </a:prstGeom>
          <a:noFill/>
          <a:ln/>
        </p:spPr>
        <p:txBody>
          <a:bodyPr wrap="square" lIns="0" tIns="0" rIns="0" bIns="0" rtlCol="0" anchor="ctr"/>
          <a:lstStyle/>
          <a:p>
            <a:pPr indent="0" marL="0">
              <a:buNone/>
            </a:pPr>
            <a:r>
              <a:rPr lang="en-US" sz="1300" dirty="0">
                <a:solidFill>
                  <a:schemeClr val="bg1"/>
                </a:solidFill>
                <a:latin typeface="Calibri" pitchFamily="34" charset="0"/>
                <a:ea typeface="Calibri" pitchFamily="34" charset="-122"/>
                <a:cs typeface="Calibri" pitchFamily="34" charset="-120"/>
              </a:rPr>
              <a:t>Before selling, validate customer demand, operating costs, security requirements, integration reliability, and willingness to pay. These are potential models, not established revenue.</a:t>
            </a:r>
            <a:endParaRPr lang="en-US" sz="13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Security and responsible operation</a:t>
            </a:r>
            <a:endParaRPr lang="en-US" sz="3200" dirty="0"/>
          </a:p>
        </p:txBody>
      </p:sp>
      <p:sp>
        <p:nvSpPr>
          <p:cNvPr id="3" name="Shape 1"/>
          <p:cNvSpPr/>
          <p:nvPr/>
        </p:nvSpPr>
        <p:spPr>
          <a:xfrm>
            <a:off x="457200" y="1097280"/>
            <a:ext cx="2651760" cy="1143000"/>
          </a:xfrm>
          <a:prstGeom prst="roundRect">
            <a:avLst>
              <a:gd name="adj" fmla="val 6400"/>
            </a:avLst>
          </a:prstGeom>
          <a:solidFill>
            <a:schemeClr val="bg2"/>
          </a:solidFill>
          <a:ln/>
        </p:spPr>
      </p:sp>
      <p:sp>
        <p:nvSpPr>
          <p:cNvPr id="4" name="Shape 2"/>
          <p:cNvSpPr/>
          <p:nvPr/>
        </p:nvSpPr>
        <p:spPr>
          <a:xfrm>
            <a:off x="640080" y="1444752"/>
            <a:ext cx="457200" cy="457200"/>
          </a:xfrm>
          <a:prstGeom prst="ellipse">
            <a:avLst/>
          </a:prstGeom>
          <a:solidFill>
            <a:schemeClr val="accent4"/>
          </a:solidFill>
          <a:ln/>
        </p:spPr>
      </p:sp>
      <p:pic>
        <p:nvPicPr>
          <p:cNvPr id="5" name="Image 0" descr="preencoded.png">    </p:cNvPr>
          <p:cNvPicPr>
            <a:picLocks noChangeAspect="1"/>
          </p:cNvPicPr>
          <p:nvPr/>
        </p:nvPicPr>
        <p:blipFill>
          <a:blip r:embed="rId1"/>
          <a:stretch>
            <a:fillRect/>
          </a:stretch>
        </p:blipFill>
        <p:spPr>
          <a:xfrm>
            <a:off x="754380" y="1559052"/>
            <a:ext cx="228600" cy="228600"/>
          </a:xfrm>
          <a:prstGeom prst="rect">
            <a:avLst/>
          </a:prstGeom>
        </p:spPr>
      </p:pic>
      <p:sp>
        <p:nvSpPr>
          <p:cNvPr id="6" name="Text 3"/>
          <p:cNvSpPr txBox="1"/>
          <p:nvPr/>
        </p:nvSpPr>
        <p:spPr>
          <a:xfrm>
            <a:off x="1234440" y="1188720"/>
            <a:ext cx="1737360" cy="9601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Restrict tool access to approved operations</a:t>
            </a:r>
            <a:endParaRPr lang="en-US" sz="1400" dirty="0"/>
          </a:p>
        </p:txBody>
      </p:sp>
      <p:sp>
        <p:nvSpPr>
          <p:cNvPr id="7" name="Shape 4"/>
          <p:cNvSpPr/>
          <p:nvPr/>
        </p:nvSpPr>
        <p:spPr>
          <a:xfrm>
            <a:off x="3246120" y="1097280"/>
            <a:ext cx="2651760" cy="1143000"/>
          </a:xfrm>
          <a:prstGeom prst="roundRect">
            <a:avLst>
              <a:gd name="adj" fmla="val 6400"/>
            </a:avLst>
          </a:prstGeom>
          <a:solidFill>
            <a:schemeClr val="bg2"/>
          </a:solidFill>
          <a:ln/>
        </p:spPr>
      </p:sp>
      <p:sp>
        <p:nvSpPr>
          <p:cNvPr id="8" name="Shape 5"/>
          <p:cNvSpPr/>
          <p:nvPr/>
        </p:nvSpPr>
        <p:spPr>
          <a:xfrm>
            <a:off x="3429000" y="1444752"/>
            <a:ext cx="457200" cy="457200"/>
          </a:xfrm>
          <a:prstGeom prst="ellipse">
            <a:avLst/>
          </a:prstGeom>
          <a:solidFill>
            <a:schemeClr val="accent4"/>
          </a:solidFill>
          <a:ln/>
        </p:spPr>
      </p:sp>
      <p:pic>
        <p:nvPicPr>
          <p:cNvPr id="9" name="Image 1" descr="preencoded.png">    </p:cNvPr>
          <p:cNvPicPr>
            <a:picLocks noChangeAspect="1"/>
          </p:cNvPicPr>
          <p:nvPr/>
        </p:nvPicPr>
        <p:blipFill>
          <a:blip r:embed="rId2"/>
          <a:stretch>
            <a:fillRect/>
          </a:stretch>
        </p:blipFill>
        <p:spPr>
          <a:xfrm>
            <a:off x="3543300" y="1559052"/>
            <a:ext cx="228600" cy="228600"/>
          </a:xfrm>
          <a:prstGeom prst="rect">
            <a:avLst/>
          </a:prstGeom>
        </p:spPr>
      </p:pic>
      <p:sp>
        <p:nvSpPr>
          <p:cNvPr id="10" name="Text 6"/>
          <p:cNvSpPr txBox="1"/>
          <p:nvPr/>
        </p:nvSpPr>
        <p:spPr>
          <a:xfrm>
            <a:off x="4023360" y="1188720"/>
            <a:ext cx="1737360" cy="9601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Protect API credentials and vendor data</a:t>
            </a:r>
            <a:endParaRPr lang="en-US" sz="1400" dirty="0"/>
          </a:p>
        </p:txBody>
      </p:sp>
      <p:sp>
        <p:nvSpPr>
          <p:cNvPr id="11" name="Shape 7"/>
          <p:cNvSpPr/>
          <p:nvPr/>
        </p:nvSpPr>
        <p:spPr>
          <a:xfrm>
            <a:off x="6035040" y="1097280"/>
            <a:ext cx="2651760" cy="1143000"/>
          </a:xfrm>
          <a:prstGeom prst="roundRect">
            <a:avLst>
              <a:gd name="adj" fmla="val 6400"/>
            </a:avLst>
          </a:prstGeom>
          <a:solidFill>
            <a:schemeClr val="bg2"/>
          </a:solidFill>
          <a:ln/>
        </p:spPr>
      </p:sp>
      <p:sp>
        <p:nvSpPr>
          <p:cNvPr id="12" name="Shape 8"/>
          <p:cNvSpPr/>
          <p:nvPr/>
        </p:nvSpPr>
        <p:spPr>
          <a:xfrm>
            <a:off x="6217920" y="1444752"/>
            <a:ext cx="457200" cy="457200"/>
          </a:xfrm>
          <a:prstGeom prst="ellipse">
            <a:avLst/>
          </a:prstGeom>
          <a:solidFill>
            <a:schemeClr val="accent4"/>
          </a:solidFill>
          <a:ln/>
        </p:spPr>
      </p:sp>
      <p:pic>
        <p:nvPicPr>
          <p:cNvPr id="13" name="Image 2" descr="preencoded.png">    </p:cNvPr>
          <p:cNvPicPr>
            <a:picLocks noChangeAspect="1"/>
          </p:cNvPicPr>
          <p:nvPr/>
        </p:nvPicPr>
        <p:blipFill>
          <a:blip r:embed="rId3"/>
          <a:stretch>
            <a:fillRect/>
          </a:stretch>
        </p:blipFill>
        <p:spPr>
          <a:xfrm>
            <a:off x="6332220" y="1559052"/>
            <a:ext cx="228600" cy="228600"/>
          </a:xfrm>
          <a:prstGeom prst="rect">
            <a:avLst/>
          </a:prstGeom>
        </p:spPr>
      </p:pic>
      <p:sp>
        <p:nvSpPr>
          <p:cNvPr id="14" name="Text 9"/>
          <p:cNvSpPr txBox="1"/>
          <p:nvPr/>
        </p:nvSpPr>
        <p:spPr>
          <a:xfrm>
            <a:off x="6812280" y="1188720"/>
            <a:ext cx="1737360" cy="9601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Validate inputs; handle timeouts and errors safely</a:t>
            </a:r>
            <a:endParaRPr lang="en-US" sz="1400" dirty="0"/>
          </a:p>
        </p:txBody>
      </p:sp>
      <p:sp>
        <p:nvSpPr>
          <p:cNvPr id="15" name="Shape 10"/>
          <p:cNvSpPr/>
          <p:nvPr/>
        </p:nvSpPr>
        <p:spPr>
          <a:xfrm>
            <a:off x="457200" y="2377440"/>
            <a:ext cx="2651760" cy="1143000"/>
          </a:xfrm>
          <a:prstGeom prst="roundRect">
            <a:avLst>
              <a:gd name="adj" fmla="val 6400"/>
            </a:avLst>
          </a:prstGeom>
          <a:solidFill>
            <a:schemeClr val="bg2"/>
          </a:solidFill>
          <a:ln/>
        </p:spPr>
      </p:sp>
      <p:sp>
        <p:nvSpPr>
          <p:cNvPr id="16" name="Shape 11"/>
          <p:cNvSpPr/>
          <p:nvPr/>
        </p:nvSpPr>
        <p:spPr>
          <a:xfrm>
            <a:off x="640080" y="2724912"/>
            <a:ext cx="457200" cy="457200"/>
          </a:xfrm>
          <a:prstGeom prst="ellipse">
            <a:avLst/>
          </a:prstGeom>
          <a:solidFill>
            <a:schemeClr val="accent4"/>
          </a:solidFill>
          <a:ln/>
        </p:spPr>
      </p:sp>
      <p:pic>
        <p:nvPicPr>
          <p:cNvPr id="17" name="Image 3" descr="preencoded.png">    </p:cNvPr>
          <p:cNvPicPr>
            <a:picLocks noChangeAspect="1"/>
          </p:cNvPicPr>
          <p:nvPr/>
        </p:nvPicPr>
        <p:blipFill>
          <a:blip r:embed="rId4"/>
          <a:stretch>
            <a:fillRect/>
          </a:stretch>
        </p:blipFill>
        <p:spPr>
          <a:xfrm>
            <a:off x="754380" y="2839212"/>
            <a:ext cx="228600" cy="228600"/>
          </a:xfrm>
          <a:prstGeom prst="rect">
            <a:avLst/>
          </a:prstGeom>
        </p:spPr>
      </p:pic>
      <p:sp>
        <p:nvSpPr>
          <p:cNvPr id="18" name="Text 12"/>
          <p:cNvSpPr txBox="1"/>
          <p:nvPr/>
        </p:nvSpPr>
        <p:spPr>
          <a:xfrm>
            <a:off x="1234440" y="2468880"/>
            <a:ext cx="1737360" cy="9601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Record tool results and assessment history securely</a:t>
            </a:r>
            <a:endParaRPr lang="en-US" sz="1400" dirty="0"/>
          </a:p>
        </p:txBody>
      </p:sp>
      <p:sp>
        <p:nvSpPr>
          <p:cNvPr id="19" name="Shape 13"/>
          <p:cNvSpPr/>
          <p:nvPr/>
        </p:nvSpPr>
        <p:spPr>
          <a:xfrm>
            <a:off x="3246120" y="2377440"/>
            <a:ext cx="2651760" cy="1143000"/>
          </a:xfrm>
          <a:prstGeom prst="roundRect">
            <a:avLst>
              <a:gd name="adj" fmla="val 6400"/>
            </a:avLst>
          </a:prstGeom>
          <a:solidFill>
            <a:schemeClr val="bg2"/>
          </a:solidFill>
          <a:ln/>
        </p:spPr>
      </p:sp>
      <p:sp>
        <p:nvSpPr>
          <p:cNvPr id="20" name="Shape 14"/>
          <p:cNvSpPr/>
          <p:nvPr/>
        </p:nvSpPr>
        <p:spPr>
          <a:xfrm>
            <a:off x="3429000" y="2724912"/>
            <a:ext cx="457200" cy="457200"/>
          </a:xfrm>
          <a:prstGeom prst="ellipse">
            <a:avLst/>
          </a:prstGeom>
          <a:solidFill>
            <a:schemeClr val="accent4"/>
          </a:solidFill>
          <a:ln/>
        </p:spPr>
      </p:sp>
      <p:pic>
        <p:nvPicPr>
          <p:cNvPr id="21" name="Image 4" descr="preencoded.png">    </p:cNvPr>
          <p:cNvPicPr>
            <a:picLocks noChangeAspect="1"/>
          </p:cNvPicPr>
          <p:nvPr/>
        </p:nvPicPr>
        <p:blipFill>
          <a:blip r:embed="rId5"/>
          <a:stretch>
            <a:fillRect/>
          </a:stretch>
        </p:blipFill>
        <p:spPr>
          <a:xfrm>
            <a:off x="3543300" y="2839212"/>
            <a:ext cx="228600" cy="228600"/>
          </a:xfrm>
          <a:prstGeom prst="rect">
            <a:avLst/>
          </a:prstGeom>
        </p:spPr>
      </p:pic>
      <p:sp>
        <p:nvSpPr>
          <p:cNvPr id="22" name="Text 15"/>
          <p:cNvSpPr txBox="1"/>
          <p:nvPr/>
        </p:nvSpPr>
        <p:spPr>
          <a:xfrm>
            <a:off x="4023360" y="2468880"/>
            <a:ext cx="1737360" cy="9601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Separate verified results from unknown information</a:t>
            </a:r>
            <a:endParaRPr lang="en-US" sz="1400" dirty="0"/>
          </a:p>
        </p:txBody>
      </p:sp>
      <p:sp>
        <p:nvSpPr>
          <p:cNvPr id="23" name="Shape 16"/>
          <p:cNvSpPr/>
          <p:nvPr/>
        </p:nvSpPr>
        <p:spPr>
          <a:xfrm>
            <a:off x="6035040" y="2377440"/>
            <a:ext cx="2651760" cy="1143000"/>
          </a:xfrm>
          <a:prstGeom prst="roundRect">
            <a:avLst>
              <a:gd name="adj" fmla="val 6400"/>
            </a:avLst>
          </a:prstGeom>
          <a:solidFill>
            <a:schemeClr val="bg2"/>
          </a:solidFill>
          <a:ln/>
        </p:spPr>
      </p:sp>
      <p:sp>
        <p:nvSpPr>
          <p:cNvPr id="24" name="Shape 17"/>
          <p:cNvSpPr/>
          <p:nvPr/>
        </p:nvSpPr>
        <p:spPr>
          <a:xfrm>
            <a:off x="6217920" y="2724912"/>
            <a:ext cx="457200" cy="457200"/>
          </a:xfrm>
          <a:prstGeom prst="ellipse">
            <a:avLst/>
          </a:prstGeom>
          <a:solidFill>
            <a:schemeClr val="accent4"/>
          </a:solidFill>
          <a:ln/>
        </p:spPr>
      </p:sp>
      <p:pic>
        <p:nvPicPr>
          <p:cNvPr id="25" name="Image 5" descr="preencoded.png">    </p:cNvPr>
          <p:cNvPicPr>
            <a:picLocks noChangeAspect="1"/>
          </p:cNvPicPr>
          <p:nvPr/>
        </p:nvPicPr>
        <p:blipFill>
          <a:blip r:embed="rId6"/>
          <a:stretch>
            <a:fillRect/>
          </a:stretch>
        </p:blipFill>
        <p:spPr>
          <a:xfrm>
            <a:off x="6332220" y="2839212"/>
            <a:ext cx="228600" cy="228600"/>
          </a:xfrm>
          <a:prstGeom prst="rect">
            <a:avLst/>
          </a:prstGeom>
        </p:spPr>
      </p:pic>
      <p:sp>
        <p:nvSpPr>
          <p:cNvPr id="26" name="Text 18"/>
          <p:cNvSpPr txBox="1"/>
          <p:nvPr/>
        </p:nvSpPr>
        <p:spPr>
          <a:xfrm>
            <a:off x="6812280" y="2468880"/>
            <a:ext cx="1737360" cy="9601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Require human authorization for payment or signing</a:t>
            </a:r>
            <a:endParaRPr lang="en-US" sz="1400" dirty="0"/>
          </a:p>
        </p:txBody>
      </p:sp>
      <p:sp>
        <p:nvSpPr>
          <p:cNvPr id="27" name="Shape 19"/>
          <p:cNvSpPr/>
          <p:nvPr/>
        </p:nvSpPr>
        <p:spPr>
          <a:xfrm>
            <a:off x="457200" y="3794760"/>
            <a:ext cx="8229600" cy="685800"/>
          </a:xfrm>
          <a:prstGeom prst="roundRect">
            <a:avLst>
              <a:gd name="adj" fmla="val 10667"/>
            </a:avLst>
          </a:prstGeom>
          <a:solidFill>
            <a:schemeClr val="tx2"/>
          </a:solidFill>
          <a:ln/>
        </p:spPr>
      </p:sp>
      <p:sp>
        <p:nvSpPr>
          <p:cNvPr id="28" name="Text 20"/>
          <p:cNvSpPr txBox="1"/>
          <p:nvPr/>
        </p:nvSpPr>
        <p:spPr>
          <a:xfrm>
            <a:off x="685800" y="3794760"/>
            <a:ext cx="7772400" cy="685800"/>
          </a:xfrm>
          <a:prstGeom prst="rect">
            <a:avLst/>
          </a:prstGeom>
          <a:noFill/>
          <a:ln/>
        </p:spPr>
        <p:txBody>
          <a:bodyPr wrap="square" lIns="0" tIns="0" rIns="0" bIns="0" rtlCol="0" anchor="ctr"/>
          <a:lstStyle/>
          <a:p>
            <a:pPr indent="0" marL="0">
              <a:buNone/>
            </a:pPr>
            <a:r>
              <a:rPr lang="en-US" sz="1500" dirty="0">
                <a:solidFill>
                  <a:schemeClr val="bg1"/>
                </a:solidFill>
                <a:latin typeface="Calibri" pitchFamily="34" charset="0"/>
                <a:ea typeface="Calibri" pitchFamily="34" charset="-122"/>
                <a:cs typeface="Calibri" pitchFamily="34" charset="-120"/>
              </a:rPr>
              <a:t>SENTINELPAY supports review; it does not guarantee fraud prevention or replace professional judgment.</a:t>
            </a:r>
            <a:endParaRPr lang="en-US" sz="15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Future roadmap</a:t>
            </a:r>
            <a:endParaRPr lang="en-US" sz="3200" dirty="0"/>
          </a:p>
        </p:txBody>
      </p:sp>
      <p:sp>
        <p:nvSpPr>
          <p:cNvPr id="3" name="Shape 1"/>
          <p:cNvSpPr/>
          <p:nvPr/>
        </p:nvSpPr>
        <p:spPr>
          <a:xfrm>
            <a:off x="457200" y="1097280"/>
            <a:ext cx="2651760" cy="2926080"/>
          </a:xfrm>
          <a:prstGeom prst="roundRect">
            <a:avLst>
              <a:gd name="adj" fmla="val 2759"/>
            </a:avLst>
          </a:prstGeom>
          <a:solidFill>
            <a:schemeClr val="bg2"/>
          </a:solidFill>
          <a:ln/>
        </p:spPr>
      </p:sp>
      <p:sp>
        <p:nvSpPr>
          <p:cNvPr id="4" name="Shape 2"/>
          <p:cNvSpPr/>
          <p:nvPr/>
        </p:nvSpPr>
        <p:spPr>
          <a:xfrm>
            <a:off x="457200" y="1097280"/>
            <a:ext cx="2651760" cy="822960"/>
          </a:xfrm>
          <a:prstGeom prst="roundRect">
            <a:avLst>
              <a:gd name="adj" fmla="val 8889"/>
            </a:avLst>
          </a:prstGeom>
          <a:solidFill>
            <a:schemeClr val="accent1"/>
          </a:solidFill>
          <a:ln/>
        </p:spPr>
      </p:sp>
      <p:sp>
        <p:nvSpPr>
          <p:cNvPr id="5" name="Text 3"/>
          <p:cNvSpPr txBox="1"/>
          <p:nvPr/>
        </p:nvSpPr>
        <p:spPr>
          <a:xfrm>
            <a:off x="685800" y="1170432"/>
            <a:ext cx="2194560" cy="228600"/>
          </a:xfrm>
          <a:prstGeom prst="rect">
            <a:avLst/>
          </a:prstGeom>
          <a:noFill/>
          <a:ln/>
        </p:spPr>
        <p:txBody>
          <a:bodyPr wrap="square" lIns="0" tIns="0" rIns="0" bIns="0" rtlCol="0" anchor="t"/>
          <a:lstStyle/>
          <a:p>
            <a:pPr indent="0" marL="0">
              <a:buNone/>
            </a:pPr>
            <a:r>
              <a:rPr lang="en-US" sz="1100" b="1" spc="200" kern="0" dirty="0">
                <a:solidFill>
                  <a:schemeClr val="bg1"/>
                </a:solidFill>
                <a:latin typeface="Calibri" pitchFamily="34" charset="0"/>
                <a:ea typeface="Calibri" pitchFamily="34" charset="-122"/>
                <a:cs typeface="Calibri" pitchFamily="34" charset="-120"/>
              </a:rPr>
              <a:t>PHASE 1</a:t>
            </a:r>
            <a:endParaRPr lang="en-US" sz="1100" dirty="0"/>
          </a:p>
        </p:txBody>
      </p:sp>
      <p:sp>
        <p:nvSpPr>
          <p:cNvPr id="6" name="Text 4"/>
          <p:cNvSpPr txBox="1"/>
          <p:nvPr/>
        </p:nvSpPr>
        <p:spPr>
          <a:xfrm>
            <a:off x="685800" y="1389888"/>
            <a:ext cx="2286000" cy="45720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Reliability</a:t>
            </a:r>
            <a:endParaRPr lang="en-US" sz="1700" dirty="0"/>
          </a:p>
        </p:txBody>
      </p:sp>
      <p:sp>
        <p:nvSpPr>
          <p:cNvPr id="7" name="Text 5"/>
          <p:cNvSpPr txBox="1"/>
          <p:nvPr/>
        </p:nvSpPr>
        <p:spPr>
          <a:xfrm>
            <a:off x="685800" y="2103120"/>
            <a:ext cx="2240280"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Fix /api/ask routing for vendor questions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Return structured, reliable GSTIN results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Confirm each agreement matches the vendor</a:t>
            </a:r>
            <a:endParaRPr lang="en-US" sz="1400" dirty="0"/>
          </a:p>
        </p:txBody>
      </p:sp>
      <p:sp>
        <p:nvSpPr>
          <p:cNvPr id="8" name="Shape 6"/>
          <p:cNvSpPr/>
          <p:nvPr/>
        </p:nvSpPr>
        <p:spPr>
          <a:xfrm>
            <a:off x="3246120" y="1097280"/>
            <a:ext cx="2651760" cy="2926080"/>
          </a:xfrm>
          <a:prstGeom prst="roundRect">
            <a:avLst>
              <a:gd name="adj" fmla="val 2759"/>
            </a:avLst>
          </a:prstGeom>
          <a:solidFill>
            <a:schemeClr val="bg2"/>
          </a:solidFill>
          <a:ln/>
        </p:spPr>
      </p:sp>
      <p:sp>
        <p:nvSpPr>
          <p:cNvPr id="9" name="Shape 7"/>
          <p:cNvSpPr/>
          <p:nvPr/>
        </p:nvSpPr>
        <p:spPr>
          <a:xfrm>
            <a:off x="3246120" y="1097280"/>
            <a:ext cx="2651760" cy="822960"/>
          </a:xfrm>
          <a:prstGeom prst="roundRect">
            <a:avLst>
              <a:gd name="adj" fmla="val 8889"/>
            </a:avLst>
          </a:prstGeom>
          <a:solidFill>
            <a:schemeClr val="accent4"/>
          </a:solidFill>
          <a:ln/>
        </p:spPr>
      </p:sp>
      <p:sp>
        <p:nvSpPr>
          <p:cNvPr id="10" name="Text 8"/>
          <p:cNvSpPr txBox="1"/>
          <p:nvPr/>
        </p:nvSpPr>
        <p:spPr>
          <a:xfrm>
            <a:off x="3474720" y="1170432"/>
            <a:ext cx="2194560" cy="228600"/>
          </a:xfrm>
          <a:prstGeom prst="rect">
            <a:avLst/>
          </a:prstGeom>
          <a:noFill/>
          <a:ln/>
        </p:spPr>
        <p:txBody>
          <a:bodyPr wrap="square" lIns="0" tIns="0" rIns="0" bIns="0" rtlCol="0" anchor="t"/>
          <a:lstStyle/>
          <a:p>
            <a:pPr indent="0" marL="0">
              <a:buNone/>
            </a:pPr>
            <a:r>
              <a:rPr lang="en-US" sz="1100" b="1" spc="200" kern="0" dirty="0">
                <a:solidFill>
                  <a:schemeClr val="bg1"/>
                </a:solidFill>
                <a:latin typeface="Calibri" pitchFamily="34" charset="0"/>
                <a:ea typeface="Calibri" pitchFamily="34" charset="-122"/>
                <a:cs typeface="Calibri" pitchFamily="34" charset="-120"/>
              </a:rPr>
              <a:t>PHASE 2</a:t>
            </a:r>
            <a:endParaRPr lang="en-US" sz="1100" dirty="0"/>
          </a:p>
        </p:txBody>
      </p:sp>
      <p:sp>
        <p:nvSpPr>
          <p:cNvPr id="11" name="Text 9"/>
          <p:cNvSpPr txBox="1"/>
          <p:nvPr/>
        </p:nvSpPr>
        <p:spPr>
          <a:xfrm>
            <a:off x="3474720" y="1389888"/>
            <a:ext cx="2286000" cy="45720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Compliance intelligence</a:t>
            </a:r>
            <a:endParaRPr lang="en-US" sz="1700" dirty="0"/>
          </a:p>
        </p:txBody>
      </p:sp>
      <p:sp>
        <p:nvSpPr>
          <p:cNvPr id="12" name="Text 10"/>
          <p:cNvSpPr txBox="1"/>
          <p:nvPr/>
        </p:nvSpPr>
        <p:spPr>
          <a:xfrm>
            <a:off x="3474720" y="2103120"/>
            <a:ext cx="2240280"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Define transparent risk rules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Generate structured vendor risk reports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Record results, errors, and outcomes</a:t>
            </a:r>
            <a:endParaRPr lang="en-US" sz="1400" dirty="0"/>
          </a:p>
        </p:txBody>
      </p:sp>
      <p:sp>
        <p:nvSpPr>
          <p:cNvPr id="13" name="Shape 11"/>
          <p:cNvSpPr/>
          <p:nvPr/>
        </p:nvSpPr>
        <p:spPr>
          <a:xfrm>
            <a:off x="6035040" y="1097280"/>
            <a:ext cx="2651760" cy="2926080"/>
          </a:xfrm>
          <a:prstGeom prst="roundRect">
            <a:avLst>
              <a:gd name="adj" fmla="val 2759"/>
            </a:avLst>
          </a:prstGeom>
          <a:solidFill>
            <a:schemeClr val="bg2"/>
          </a:solidFill>
          <a:ln/>
        </p:spPr>
      </p:sp>
      <p:sp>
        <p:nvSpPr>
          <p:cNvPr id="14" name="Shape 12"/>
          <p:cNvSpPr/>
          <p:nvPr/>
        </p:nvSpPr>
        <p:spPr>
          <a:xfrm>
            <a:off x="6035040" y="1097280"/>
            <a:ext cx="2651760" cy="822960"/>
          </a:xfrm>
          <a:prstGeom prst="roundRect">
            <a:avLst>
              <a:gd name="adj" fmla="val 8889"/>
            </a:avLst>
          </a:prstGeom>
          <a:solidFill>
            <a:schemeClr val="tx2"/>
          </a:solidFill>
          <a:ln/>
        </p:spPr>
      </p:sp>
      <p:sp>
        <p:nvSpPr>
          <p:cNvPr id="15" name="Text 13"/>
          <p:cNvSpPr txBox="1"/>
          <p:nvPr/>
        </p:nvSpPr>
        <p:spPr>
          <a:xfrm>
            <a:off x="6263640" y="1170432"/>
            <a:ext cx="2194560" cy="228600"/>
          </a:xfrm>
          <a:prstGeom prst="rect">
            <a:avLst/>
          </a:prstGeom>
          <a:noFill/>
          <a:ln/>
        </p:spPr>
        <p:txBody>
          <a:bodyPr wrap="square" lIns="0" tIns="0" rIns="0" bIns="0" rtlCol="0" anchor="t"/>
          <a:lstStyle/>
          <a:p>
            <a:pPr indent="0" marL="0">
              <a:buNone/>
            </a:pPr>
            <a:r>
              <a:rPr lang="en-US" sz="1100" b="1" spc="200" kern="0" dirty="0">
                <a:solidFill>
                  <a:schemeClr val="bg1"/>
                </a:solidFill>
                <a:latin typeface="Calibri" pitchFamily="34" charset="0"/>
                <a:ea typeface="Calibri" pitchFamily="34" charset="-122"/>
                <a:cs typeface="Calibri" pitchFamily="34" charset="-120"/>
              </a:rPr>
              <a:t>PHASE 3</a:t>
            </a:r>
            <a:endParaRPr lang="en-US" sz="1100" dirty="0"/>
          </a:p>
        </p:txBody>
      </p:sp>
      <p:sp>
        <p:nvSpPr>
          <p:cNvPr id="16" name="Text 14"/>
          <p:cNvSpPr txBox="1"/>
          <p:nvPr/>
        </p:nvSpPr>
        <p:spPr>
          <a:xfrm>
            <a:off x="6263640" y="1389888"/>
            <a:ext cx="2286000" cy="45720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Enterprise readiness</a:t>
            </a:r>
            <a:endParaRPr lang="en-US" sz="1700" dirty="0"/>
          </a:p>
        </p:txBody>
      </p:sp>
      <p:sp>
        <p:nvSpPr>
          <p:cNvPr id="17" name="Text 15"/>
          <p:cNvSpPr txBox="1"/>
          <p:nvPr/>
        </p:nvSpPr>
        <p:spPr>
          <a:xfrm>
            <a:off x="6263640" y="2103120"/>
            <a:ext cx="2240280"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Add authentication, permissions, monitoring</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Controlled approval and notifications</a:t>
            </a:r>
            <a:endParaRPr lang="en-US" sz="1400" dirty="0"/>
          </a:p>
          <a:p>
            <a:pPr marL="342900" indent="-342900">
              <a:spcAft>
                <a:spcPts val="500"/>
              </a:spcAft>
              <a:buSzPct val="100000"/>
              <a:buChar char="•"/>
            </a:pPr>
            <a:r>
              <a:rPr lang="en-US" sz="1400" dirty="0">
                <a:solidFill>
                  <a:schemeClr val="tx1"/>
                </a:solidFill>
                <a:latin typeface="Calibri" pitchFamily="34" charset="0"/>
                <a:ea typeface="Calibri" pitchFamily="34" charset="-122"/>
                <a:cs typeface="Calibri" pitchFamily="34" charset="-120"/>
              </a:rPr>
              <a:t>Pilot with finance teams; measure outcomes</a:t>
            </a:r>
            <a:endParaRPr lang="en-US" sz="1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457200"/>
            <a:ext cx="640080" cy="640080"/>
          </a:xfrm>
          <a:prstGeom prst="ellipse">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617220" y="617220"/>
            <a:ext cx="320040" cy="320040"/>
          </a:xfrm>
          <a:prstGeom prst="rect">
            <a:avLst/>
          </a:prstGeom>
        </p:spPr>
      </p:pic>
      <p:sp>
        <p:nvSpPr>
          <p:cNvPr id="4" name="Text 1"/>
          <p:cNvSpPr txBox="1"/>
          <p:nvPr/>
        </p:nvSpPr>
        <p:spPr>
          <a:xfrm>
            <a:off x="1280160" y="457200"/>
            <a:ext cx="6400800" cy="64008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SENTINELPAY</a:t>
            </a:r>
            <a:endParaRPr lang="en-US" sz="3200" dirty="0"/>
          </a:p>
        </p:txBody>
      </p:sp>
      <p:sp>
        <p:nvSpPr>
          <p:cNvPr id="5" name="Text 2"/>
          <p:cNvSpPr txBox="1"/>
          <p:nvPr/>
        </p:nvSpPr>
        <p:spPr>
          <a:xfrm>
            <a:off x="457200" y="1417320"/>
            <a:ext cx="8229600" cy="548640"/>
          </a:xfrm>
          <a:prstGeom prst="rect">
            <a:avLst/>
          </a:prstGeom>
          <a:noFill/>
          <a:ln/>
        </p:spPr>
        <p:txBody>
          <a:bodyPr wrap="square" lIns="0" tIns="0" rIns="0" bIns="0" rtlCol="0" anchor="t"/>
          <a:lstStyle/>
          <a:p>
            <a:pPr indent="0" marL="0">
              <a:buNone/>
            </a:pPr>
            <a:r>
              <a:rPr lang="en-US" sz="2600" b="1" dirty="0">
                <a:solidFill>
                  <a:schemeClr val="accent1"/>
                </a:solidFill>
                <a:latin typeface="Calibri" pitchFamily="34" charset="0"/>
                <a:ea typeface="Calibri" pitchFamily="34" charset="-122"/>
                <a:cs typeface="Calibri" pitchFamily="34" charset="-120"/>
              </a:rPr>
              <a:t>Connect.  Verify.  Identify.  Recommend.</a:t>
            </a:r>
            <a:endParaRPr lang="en-US" sz="2600" dirty="0"/>
          </a:p>
        </p:txBody>
      </p:sp>
      <p:sp>
        <p:nvSpPr>
          <p:cNvPr id="6" name="Text 3"/>
          <p:cNvSpPr txBox="1"/>
          <p:nvPr/>
        </p:nvSpPr>
        <p:spPr>
          <a:xfrm>
            <a:off x="457200" y="2103120"/>
            <a:ext cx="7498080" cy="82296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Brings payment information, vendor verification, and contract evidence into a single workflow so finance teams can review vendor payments more consistently.</a:t>
            </a:r>
            <a:endParaRPr lang="en-US" sz="1600" dirty="0"/>
          </a:p>
        </p:txBody>
      </p:sp>
      <p:sp>
        <p:nvSpPr>
          <p:cNvPr id="7" name="Shape 4"/>
          <p:cNvSpPr/>
          <p:nvPr/>
        </p:nvSpPr>
        <p:spPr>
          <a:xfrm>
            <a:off x="457200" y="3200400"/>
            <a:ext cx="8229600" cy="1188720"/>
          </a:xfrm>
          <a:prstGeom prst="roundRect">
            <a:avLst>
              <a:gd name="adj" fmla="val 6154"/>
            </a:avLst>
          </a:prstGeom>
          <a:solidFill>
            <a:schemeClr val="accent1"/>
          </a:solidFill>
          <a:ln/>
        </p:spPr>
      </p:sp>
      <p:sp>
        <p:nvSpPr>
          <p:cNvPr id="8" name="Text 5"/>
          <p:cNvSpPr txBox="1"/>
          <p:nvPr/>
        </p:nvSpPr>
        <p:spPr>
          <a:xfrm>
            <a:off x="685800" y="3291840"/>
            <a:ext cx="7772400" cy="274320"/>
          </a:xfrm>
          <a:prstGeom prst="rect">
            <a:avLst/>
          </a:prstGeom>
          <a:noFill/>
          <a:ln/>
        </p:spPr>
        <p:txBody>
          <a:bodyPr wrap="square" lIns="0" tIns="0" rIns="0" bIns="0" rtlCol="0" anchor="t"/>
          <a:lstStyle/>
          <a:p>
            <a:pPr indent="0" marL="0">
              <a:buNone/>
            </a:pPr>
            <a:r>
              <a:rPr lang="en-US" sz="1200" b="1" spc="200" kern="0" dirty="0">
                <a:solidFill>
                  <a:schemeClr val="tx2"/>
                </a:solidFill>
                <a:latin typeface="Calibri" pitchFamily="34" charset="0"/>
                <a:ea typeface="Calibri" pitchFamily="34" charset="-122"/>
                <a:cs typeface="Calibri" pitchFamily="34" charset="-120"/>
              </a:rPr>
              <a:t>THE VALUE PROPOSITION</a:t>
            </a:r>
            <a:endParaRPr lang="en-US" sz="1200" dirty="0"/>
          </a:p>
        </p:txBody>
      </p:sp>
      <p:sp>
        <p:nvSpPr>
          <p:cNvPr id="9" name="Text 6"/>
          <p:cNvSpPr txBox="1"/>
          <p:nvPr/>
        </p:nvSpPr>
        <p:spPr>
          <a:xfrm>
            <a:off x="685800" y="3611880"/>
            <a:ext cx="7772400" cy="7315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Less manual information gathering, clearer compliance gaps, more traceable reviews, and human-controlled payment decisions.</a:t>
            </a:r>
            <a:endParaRPr lang="en-US" sz="1600" dirty="0"/>
          </a:p>
        </p:txBody>
      </p:sp>
      <p:sp>
        <p:nvSpPr>
          <p:cNvPr id="11"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endParaRPr lang="en-US" sz="3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entinelPay">
  <a:themeElements>
    <a:clrScheme name="SentinelPay">
      <a:dk1>
        <a:srgbClr val="0B1F2A"/>
      </a:dk1>
      <a:lt1>
        <a:srgbClr val="FFFFFF"/>
      </a:lt1>
      <a:dk2>
        <a:srgbClr val="0F3138"/>
      </a:dk2>
      <a:lt2>
        <a:srgbClr val="EDF4F4"/>
      </a:lt2>
      <a:accent1>
        <a:srgbClr val="0FA39A"/>
      </a:accent1>
      <a:accent2>
        <a:srgbClr val="F2A93B"/>
      </a:accent2>
      <a:accent3>
        <a:srgbClr val="D9534F"/>
      </a:accent3>
      <a:accent4>
        <a:srgbClr val="3C7A89"/>
      </a:accent4>
      <a:accent5>
        <a:srgbClr val="4A6670"/>
      </a:accent5>
      <a:accent6>
        <a:srgbClr val="2E9E6B"/>
      </a:accent6>
      <a:hlink>
        <a:srgbClr val="0FA39A"/>
      </a:hlink>
      <a:folHlink>
        <a:srgbClr val="4A6670"/>
      </a:folHlink>
    </a:clrScheme>
    <a:fontScheme name="SentinelPa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SentinelPay – Vendor Payment Risk &amp; Compliance Assistant</dc:title>
  <dc:subject>PptxGenJS Presentation</dc:subject>
  <dc:creator>PptxGenJS</dc:creator>
  <cp:lastModifiedBy>PptxGenJS</cp:lastModifiedBy>
  <cp:revision>1</cp:revision>
  <dcterms:created xsi:type="dcterms:W3CDTF">2026-10-14T16:13:16Z</dcterms:created>
  <dcterms:modified xsi:type="dcterms:W3CDTF">2026-10-14T16:13:16Z</dcterms:modified>
</cp:coreProperties>
</file>